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85" r:id="rId2"/>
    <p:sldId id="614" r:id="rId3"/>
    <p:sldId id="349" r:id="rId4"/>
    <p:sldId id="350" r:id="rId5"/>
    <p:sldId id="346" r:id="rId6"/>
    <p:sldId id="616" r:id="rId7"/>
    <p:sldId id="624" r:id="rId8"/>
    <p:sldId id="611" r:id="rId9"/>
    <p:sldId id="612" r:id="rId10"/>
    <p:sldId id="613" r:id="rId11"/>
    <p:sldId id="519" r:id="rId12"/>
    <p:sldId id="544" r:id="rId13"/>
    <p:sldId id="524" r:id="rId14"/>
    <p:sldId id="560" r:id="rId15"/>
    <p:sldId id="606" r:id="rId16"/>
    <p:sldId id="621" r:id="rId17"/>
    <p:sldId id="607" r:id="rId18"/>
    <p:sldId id="530" r:id="rId19"/>
    <p:sldId id="617" r:id="rId20"/>
    <p:sldId id="549" r:id="rId21"/>
    <p:sldId id="531" r:id="rId22"/>
    <p:sldId id="625" r:id="rId23"/>
    <p:sldId id="626" r:id="rId24"/>
    <p:sldId id="627" r:id="rId25"/>
    <p:sldId id="556" r:id="rId26"/>
    <p:sldId id="574" r:id="rId27"/>
    <p:sldId id="630" r:id="rId28"/>
    <p:sldId id="631" r:id="rId29"/>
    <p:sldId id="632" r:id="rId30"/>
    <p:sldId id="634" r:id="rId31"/>
    <p:sldId id="628" r:id="rId32"/>
    <p:sldId id="562" r:id="rId33"/>
    <p:sldId id="629" r:id="rId34"/>
    <p:sldId id="503" r:id="rId35"/>
  </p:sldIdLst>
  <p:sldSz cx="12192000" cy="6858000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2F5928C-73A8-7D45-A4F9-4D8F17015BCD}">
          <p14:sldIdLst>
            <p14:sldId id="285"/>
            <p14:sldId id="614"/>
            <p14:sldId id="349"/>
            <p14:sldId id="350"/>
            <p14:sldId id="346"/>
            <p14:sldId id="616"/>
            <p14:sldId id="624"/>
            <p14:sldId id="611"/>
            <p14:sldId id="612"/>
            <p14:sldId id="613"/>
            <p14:sldId id="519"/>
            <p14:sldId id="544"/>
            <p14:sldId id="524"/>
            <p14:sldId id="560"/>
            <p14:sldId id="606"/>
            <p14:sldId id="621"/>
            <p14:sldId id="607"/>
            <p14:sldId id="530"/>
            <p14:sldId id="617"/>
            <p14:sldId id="549"/>
            <p14:sldId id="531"/>
            <p14:sldId id="625"/>
            <p14:sldId id="626"/>
            <p14:sldId id="627"/>
            <p14:sldId id="556"/>
            <p14:sldId id="574"/>
            <p14:sldId id="630"/>
            <p14:sldId id="631"/>
            <p14:sldId id="632"/>
            <p14:sldId id="634"/>
            <p14:sldId id="628"/>
            <p14:sldId id="562"/>
            <p14:sldId id="629"/>
            <p14:sldId id="5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hohd" initials="t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7AF9A"/>
    <a:srgbClr val="66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8752A0-6CCE-4600-B458-6B5C9587B50D}" v="67" dt="2026-06-08T20:19:08.9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73" autoAdjust="0"/>
    <p:restoredTop sz="96236" autoAdjust="0"/>
  </p:normalViewPr>
  <p:slideViewPr>
    <p:cSldViewPr snapToGrid="0" showGuides="1">
      <p:cViewPr varScale="1">
        <p:scale>
          <a:sx n="102" d="100"/>
          <a:sy n="102" d="100"/>
        </p:scale>
        <p:origin x="138" y="10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2740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20906C-12EE-4F34-BED7-C99FC51E4257}" type="datetime1">
              <a:rPr lang="zh-CN" altLang="en-US" smtClean="0"/>
              <a:t>2026/6/10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3720D0-3319-42B9-93F0-4E2DB21912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241A8E-CEFF-4AB7-B9AF-99229D3BE518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104242-42E4-462F-B9A6-468AC33D61A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1B3D246E-5EAC-4A49-A199-6C1AE528FA82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D56C1261-1CFD-4E05-8624-9E910C7C3CCF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2DB3E83C-CE56-40FE-B4F3-25A30226EF29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FB098-6A37-D09E-5219-4D0EB1E42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E83B26-AAB7-FEC1-5AAF-CC9F68E750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EE3934-334B-8ACC-AFC2-D346038DB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2DA7D-2807-6F39-0695-98E896E65C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AA089-C0B9-B537-44DB-FBAB22333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B0957-4B09-C6FC-EC15-6616B18AC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1226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347BE-E815-FDC0-F236-2DA26FE0D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2264CD-FF62-7B2C-6375-6848E58027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4EE7FC-628F-37A8-3DEF-2AC32A164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654C3-3858-AC7A-31F0-77777BAC4C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EE173-CCBB-3E6F-E0D1-DE1597C00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EE434-DEDF-3026-0456-3CA495E09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603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2DB3E83C-CE56-40FE-B4F3-25A30226EF29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680F9-431B-346F-4F48-8EFFFF779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D2E79A-490D-8B5E-4099-C6B937580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A6786B-02B0-2BF6-0424-C61C4CDF9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503E-4B62-A961-9129-C13045AF5A3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BD460-2567-F0C8-87D0-40AC6BE7A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00A46-C875-5D11-4D8F-0C068310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1517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8E088-C110-6556-0BEB-5E869A4E1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2A023E-DB1A-1947-7FBC-2477ED74F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3EF76-4525-841B-0647-0E73D3410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75012-EF56-2117-94E4-B0ED0A65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FD582-4CEB-005D-8EEC-E78B5DB56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CF1A7-4B15-F25A-A67C-7B671955E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4849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2DB3E83C-CE56-40FE-B4F3-25A30226EF29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C6F11-8CAA-A2C7-AEAF-32925D783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3CD837-6458-9805-4920-10AD58278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8CA73A-6346-4B25-ADC7-0F590EAE0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71789-3247-97B9-8748-A030B98B428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7CBB1-0F6A-ADA3-E346-F1C23B9F9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4553F-8531-3A4B-F556-FB2F68B55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185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EFFCA-4971-0048-B529-035BD0474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41B1EF-E077-5FCF-4849-A7C3492E4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96AF46-1887-4EDA-69D5-5B7D9E6D2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3D239-78BD-2770-B447-BB2410D45AB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10956-2384-3E73-06C7-CD6C65C8C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C9C80-C378-A201-9979-247760C2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5082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4A219-96D9-399C-BCD7-27B0E87D7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2E4CF-192E-1FBE-218F-D21611D85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E7AA2-74D3-C23F-DFC9-8FFD25278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C3BE2-D9A6-3791-3E90-FCD2D31BD8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ED659-972F-B9A7-E780-B477CC1CF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2A784-08B8-190C-6305-2D4F30AF5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7035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74045-1FB6-D125-82A9-B1971BA1C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459469-E83E-5C13-3D62-4605C9796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34F0C-FB5F-5C38-C365-44AFFDDCF0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03080-1304-04D3-C2A3-F064DC554DE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6FE16-95DF-A2B1-507F-84F778260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B7396-7E6D-12E5-E17C-7A04004EA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71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57459-7E6D-0750-CE9C-89C60F980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65E946-14BB-C0B9-5937-3E73A58AB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EDF8C5-8706-D2F9-CDC4-450304B3CD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6790B-5CB6-3655-FC7D-F1F816FBAE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EC792-2929-F0F1-7946-1A920D724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EB3A7-FFC5-54DC-9B60-30499C60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3995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AE32D-49AD-74F8-0542-638ECA9CA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1CD9CA-760B-DCF2-2916-B40B925F4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52ACAD-B689-E275-D9BD-7D61B7230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CC21A-76D4-2B25-03CE-A4AD3B64B4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CAEA5-144F-2F1C-5D92-5BEA305B3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90E22-0933-93AE-A107-FD726541F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3153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19D7C-69DB-5C94-3A48-20858061F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7944B0-2A32-1A75-C512-3A062383E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30EA00-2997-FF90-E706-4C4694A57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C9CF1-01D8-AC60-738B-86B4BC380DE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673AC-2ACF-1F23-7348-7DE97579F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84FFB-FF4C-6C03-DAFC-B0A78BFA0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5094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60CDD-55F2-BA4E-589E-80999D5E9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8F74E0-1258-ABA2-651D-77C9D613F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29A63E-0B2D-D613-2DD2-58B524293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42F34C-D99E-373B-BB69-83EE67617A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845E1-54BC-DDDB-D8B2-15B4EBD2921E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2DB3E83C-CE56-40FE-B4F3-25A30226EF29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ABAC87-9C92-91F5-412A-C09036E75C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4039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vi-VN" sz="120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D9393-BFE5-2C41-965C-3C7CC6F14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BED47-24E6-8B01-01EE-25F94566F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A89DDF-AE5C-62AB-BE00-9E17A5D78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vi-VN" sz="120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25F06-6973-8E06-C78D-0ABCA6232F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DCB8C18-57CA-43CE-B92F-04ACA3D6F38D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6B88C-B1F4-B0E4-8DC9-5712C89A7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9F75F-EF89-B382-257E-D3CBD29CC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3478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E592B64-123E-45AF-94D0-F7A5F236A97C}" type="datetime1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49"/>
          <a:stretch>
            <a:fillRect/>
          </a:stretch>
        </p:blipFill>
        <p:spPr>
          <a:xfrm>
            <a:off x="4419600" y="940460"/>
            <a:ext cx="7772400" cy="5917540"/>
          </a:xfrm>
          <a:prstGeom prst="rect">
            <a:avLst/>
          </a:prstGeom>
        </p:spPr>
      </p:pic>
      <p:grpSp>
        <p:nvGrpSpPr>
          <p:cNvPr id="7" name="Group 6"/>
          <p:cNvGrpSpPr/>
          <p:nvPr userDrawn="1"/>
        </p:nvGrpSpPr>
        <p:grpSpPr>
          <a:xfrm>
            <a:off x="8265776" y="42392"/>
            <a:ext cx="3883832" cy="965199"/>
            <a:chOff x="8308168" y="0"/>
            <a:chExt cx="3883832" cy="965199"/>
          </a:xfrm>
        </p:grpSpPr>
        <p:pic>
          <p:nvPicPr>
            <p:cNvPr id="8" name="Picture 7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85328" y="0"/>
              <a:ext cx="1006672" cy="965199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308168" y="265786"/>
              <a:ext cx="2877160" cy="433625"/>
            </a:xfrm>
            <a:prstGeom prst="rect">
              <a:avLst/>
            </a:prstGeom>
          </p:spPr>
        </p:pic>
      </p:grpSp>
      <p:sp>
        <p:nvSpPr>
          <p:cNvPr id="12" name="TextBox 11"/>
          <p:cNvSpPr txBox="1"/>
          <p:nvPr userDrawn="1"/>
        </p:nvSpPr>
        <p:spPr>
          <a:xfrm>
            <a:off x="5018566" y="6530109"/>
            <a:ext cx="7131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0" i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r"/>
            <a:fld id="{F7CE68C9-1898-4F91-91CD-5C5ED7667076}" type="datetime3">
              <a:rPr lang="en-US" smtClean="0">
                <a:solidFill>
                  <a:schemeClr val="bg1"/>
                </a:solidFill>
              </a:rPr>
              <a:t>10 June 2026</a:t>
            </a:fld>
            <a:r>
              <a:rPr lang="en-US">
                <a:solidFill>
                  <a:schemeClr val="bg1"/>
                </a:solidFill>
              </a:rPr>
              <a:t> | Page </a:t>
            </a:r>
            <a:fld id="{ABE13A69-7510-48BA-B518-3F4112F4C1A0}" type="slidenum">
              <a:rPr lang="en-US" smtClean="0">
                <a:solidFill>
                  <a:schemeClr val="bg1"/>
                </a:solidFill>
              </a:rPr>
              <a:t>‹#›</a:t>
            </a:fld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188415"/>
            <a:ext cx="4463844" cy="6669586"/>
          </a:xfrm>
          <a:prstGeom prst="rect">
            <a:avLst/>
          </a:prstGeom>
        </p:spPr>
      </p:pic>
      <p:grpSp>
        <p:nvGrpSpPr>
          <p:cNvPr id="4" name="Group 3"/>
          <p:cNvGrpSpPr/>
          <p:nvPr userDrawn="1"/>
        </p:nvGrpSpPr>
        <p:grpSpPr>
          <a:xfrm>
            <a:off x="8265776" y="42392"/>
            <a:ext cx="3883832" cy="965199"/>
            <a:chOff x="8308168" y="0"/>
            <a:chExt cx="3883832" cy="965199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85328" y="0"/>
              <a:ext cx="1006672" cy="965199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308168" y="265786"/>
              <a:ext cx="2877160" cy="433625"/>
            </a:xfrm>
            <a:prstGeom prst="rect">
              <a:avLst/>
            </a:prstGeom>
          </p:spPr>
        </p:pic>
      </p:grpSp>
      <p:sp>
        <p:nvSpPr>
          <p:cNvPr id="8" name="TextBox 7"/>
          <p:cNvSpPr txBox="1"/>
          <p:nvPr userDrawn="1"/>
        </p:nvSpPr>
        <p:spPr>
          <a:xfrm>
            <a:off x="0" y="6530109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0" i="1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Bộ</a:t>
            </a:r>
            <a:r>
              <a:rPr lang="en-US" sz="1400" b="0" i="1" baseline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0" i="1" baseline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môn</a:t>
            </a:r>
            <a:r>
              <a:rPr lang="en-US" sz="1400" b="0" i="1" baseline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0" i="1" baseline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Khoa</a:t>
            </a:r>
            <a:r>
              <a:rPr lang="en-US" sz="1400" b="0" i="1" baseline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0" i="1" baseline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Học</a:t>
            </a:r>
            <a:r>
              <a:rPr lang="en-US" sz="1400" b="0" i="1" baseline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 </a:t>
            </a:r>
            <a:r>
              <a:rPr lang="en-US" sz="1400" b="0" i="1" baseline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Toàn</a:t>
            </a:r>
            <a:r>
              <a:rPr lang="en-US" sz="1400" b="0" i="1" baseline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0" i="1" baseline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Thông</a:t>
            </a:r>
            <a:r>
              <a:rPr lang="en-US" sz="1400" b="0" i="1" baseline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Tin – </a:t>
            </a:r>
            <a:r>
              <a:rPr lang="en-US" sz="1400" b="0" i="1" baseline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Khoa</a:t>
            </a:r>
            <a:r>
              <a:rPr lang="en-US" sz="1400" b="0" i="1" baseline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An </a:t>
            </a:r>
            <a:r>
              <a:rPr lang="en-US" sz="1400" b="0" i="1" baseline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Toàn</a:t>
            </a:r>
            <a:r>
              <a:rPr lang="en-US" sz="1400" b="0" i="1" baseline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0" i="1" baseline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Thông</a:t>
            </a:r>
            <a:r>
              <a:rPr lang="en-US" sz="1400" b="0" i="1" baseline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Tin</a:t>
            </a:r>
            <a:endParaRPr lang="en-US" sz="1400" b="0" i="1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30109"/>
            <a:ext cx="12149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0" i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l"/>
            <a:fld id="{F7CE68C9-1898-4F91-91CD-5C5ED7667076}" type="datetime3">
              <a:rPr lang="en-US" smtClean="0">
                <a:solidFill>
                  <a:schemeClr val="bg1"/>
                </a:solidFill>
              </a:rPr>
              <a:t>10 June 2026</a:t>
            </a:fld>
            <a:r>
              <a:rPr lang="en-US">
                <a:solidFill>
                  <a:schemeClr val="bg1"/>
                </a:solidFill>
              </a:rPr>
              <a:t> | Page </a:t>
            </a:r>
            <a:fld id="{ABE13A69-7510-48BA-B518-3F4112F4C1A0}" type="slidenum">
              <a:rPr lang="en-US" smtClean="0">
                <a:solidFill>
                  <a:schemeClr val="bg1"/>
                </a:solidFill>
              </a:rPr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33" name="TextBox 32"/>
          <p:cNvSpPr txBox="1"/>
          <p:nvPr userDrawn="1"/>
        </p:nvSpPr>
        <p:spPr>
          <a:xfrm>
            <a:off x="5086350" y="685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vi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57925"/>
            <a:ext cx="6096000" cy="5550800"/>
          </a:xfrm>
          <a:prstGeom prst="rect">
            <a:avLst/>
          </a:prstGeom>
        </p:spPr>
      </p:pic>
      <p:grpSp>
        <p:nvGrpSpPr>
          <p:cNvPr id="4" name="Group 3"/>
          <p:cNvGrpSpPr/>
          <p:nvPr userDrawn="1"/>
        </p:nvGrpSpPr>
        <p:grpSpPr>
          <a:xfrm>
            <a:off x="8265776" y="42392"/>
            <a:ext cx="3883832" cy="965199"/>
            <a:chOff x="8308168" y="0"/>
            <a:chExt cx="3883832" cy="965199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85328" y="0"/>
              <a:ext cx="1006672" cy="965199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308168" y="265786"/>
              <a:ext cx="2877160" cy="433625"/>
            </a:xfrm>
            <a:prstGeom prst="rect">
              <a:avLst/>
            </a:prstGeom>
          </p:spPr>
        </p:pic>
      </p:grpSp>
      <p:sp>
        <p:nvSpPr>
          <p:cNvPr id="8" name="TextBox 7"/>
          <p:cNvSpPr txBox="1"/>
          <p:nvPr userDrawn="1"/>
        </p:nvSpPr>
        <p:spPr>
          <a:xfrm>
            <a:off x="5231218" y="6530109"/>
            <a:ext cx="6918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0" i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r"/>
            <a:fld id="{F7CE68C9-1898-4F91-91CD-5C5ED7667076}" type="datetime3">
              <a:rPr lang="en-US" smtClean="0"/>
              <a:t>10 June 2026</a:t>
            </a:fld>
            <a:r>
              <a:rPr lang="en-US"/>
              <a:t> | Page </a:t>
            </a:r>
            <a:fld id="{ABE13A69-7510-48BA-B518-3F4112F4C1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93;p11"/>
          <p:cNvSpPr txBox="1">
            <a:spLocks noGrp="1"/>
          </p:cNvSpPr>
          <p:nvPr>
            <p:ph type="body" idx="1" hasCustomPrompt="1"/>
          </p:nvPr>
        </p:nvSpPr>
        <p:spPr>
          <a:xfrm>
            <a:off x="960582" y="1086667"/>
            <a:ext cx="11074400" cy="5351078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600" lvl="0" indent="-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Wingdings" panose="05000000000000000000" pitchFamily="2" charset="2"/>
              <a:buChar char="v"/>
              <a:defRPr sz="3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uli"/>
              </a:defRPr>
            </a:lvl1pPr>
            <a:lvl2pPr marL="1219200" lvl="1" indent="-423545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Wingdings" panose="05000000000000000000" pitchFamily="2" charset="2"/>
              <a:buChar char="q"/>
              <a:defRPr sz="28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uli"/>
              </a:defRPr>
            </a:lvl2pPr>
            <a:lvl3pPr marL="1828800" lvl="2" indent="-423545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Muli"/>
              <a:buChar char="■"/>
              <a:defRPr sz="24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uli"/>
              </a:defRPr>
            </a:lvl3pPr>
            <a:lvl4pPr marL="2438400" lvl="3" indent="-423545" rtl="0">
              <a:spcBef>
                <a:spcPts val="2135"/>
              </a:spcBef>
              <a:spcAft>
                <a:spcPts val="0"/>
              </a:spcAft>
              <a:buSzPts val="1400"/>
              <a:buFont typeface="Muli"/>
              <a:buChar char="●"/>
              <a:defRPr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uli"/>
              </a:defRPr>
            </a:lvl4pPr>
            <a:lvl5pPr marL="3048000" lvl="4" indent="-423545" rtl="0">
              <a:spcBef>
                <a:spcPts val="2135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600" lvl="5" indent="-423545" rtl="0">
              <a:spcBef>
                <a:spcPts val="2135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200" lvl="6" indent="-423545" rtl="0">
              <a:spcBef>
                <a:spcPts val="2135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800" lvl="7" indent="-423545" rtl="0">
              <a:spcBef>
                <a:spcPts val="2135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400" lvl="8" indent="-423545" rtl="0">
              <a:spcBef>
                <a:spcPts val="2135"/>
              </a:spcBef>
              <a:spcAft>
                <a:spcPts val="2135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r>
              <a:rPr lang="en-US"/>
              <a:t>Click to add content</a:t>
            </a:r>
          </a:p>
          <a:p>
            <a:pPr lvl="1"/>
            <a:r>
              <a:rPr lang="en-US"/>
              <a:t>Click to add content</a:t>
            </a:r>
          </a:p>
          <a:p>
            <a:pPr lvl="2"/>
            <a:r>
              <a:rPr lang="en-US"/>
              <a:t>Click to add content</a:t>
            </a:r>
          </a:p>
          <a:p>
            <a:pPr lvl="3"/>
            <a:r>
              <a:rPr lang="en-US"/>
              <a:t>Click to add content</a:t>
            </a:r>
          </a:p>
        </p:txBody>
      </p:sp>
      <p:sp>
        <p:nvSpPr>
          <p:cNvPr id="9" name="Google Shape;92;p11"/>
          <p:cNvSpPr txBox="1">
            <a:spLocks noGrp="1"/>
          </p:cNvSpPr>
          <p:nvPr>
            <p:ph type="title"/>
          </p:nvPr>
        </p:nvSpPr>
        <p:spPr>
          <a:xfrm>
            <a:off x="1108364" y="175484"/>
            <a:ext cx="11016586" cy="711205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 sz="44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1698623" y="2746373"/>
            <a:ext cx="2187580" cy="2187580"/>
          </a:xfrm>
          <a:custGeom>
            <a:avLst/>
            <a:gdLst>
              <a:gd name="connsiteX0" fmla="*/ 1093790 w 2187580"/>
              <a:gd name="connsiteY0" fmla="*/ 0 h 2187580"/>
              <a:gd name="connsiteX1" fmla="*/ 2187580 w 2187580"/>
              <a:gd name="connsiteY1" fmla="*/ 1093790 h 2187580"/>
              <a:gd name="connsiteX2" fmla="*/ 1093790 w 2187580"/>
              <a:gd name="connsiteY2" fmla="*/ 2187580 h 2187580"/>
              <a:gd name="connsiteX3" fmla="*/ 0 w 2187580"/>
              <a:gd name="connsiteY3" fmla="*/ 1093790 h 2187580"/>
              <a:gd name="connsiteX4" fmla="*/ 1093790 w 2187580"/>
              <a:gd name="connsiteY4" fmla="*/ 0 h 218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7580" h="2187580">
                <a:moveTo>
                  <a:pt x="1093790" y="0"/>
                </a:moveTo>
                <a:cubicBezTo>
                  <a:pt x="1697874" y="0"/>
                  <a:pt x="2187580" y="489706"/>
                  <a:pt x="2187580" y="1093790"/>
                </a:cubicBezTo>
                <a:cubicBezTo>
                  <a:pt x="2187580" y="1697874"/>
                  <a:pt x="1697874" y="2187580"/>
                  <a:pt x="1093790" y="2187580"/>
                </a:cubicBezTo>
                <a:cubicBezTo>
                  <a:pt x="489706" y="2187580"/>
                  <a:pt x="0" y="1697874"/>
                  <a:pt x="0" y="1093790"/>
                </a:cubicBezTo>
                <a:cubicBezTo>
                  <a:pt x="0" y="489706"/>
                  <a:pt x="489706" y="0"/>
                  <a:pt x="109379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" name="Google Shape;92;p11"/>
          <p:cNvSpPr txBox="1">
            <a:spLocks noGrp="1"/>
          </p:cNvSpPr>
          <p:nvPr>
            <p:ph type="title"/>
          </p:nvPr>
        </p:nvSpPr>
        <p:spPr>
          <a:xfrm>
            <a:off x="1108364" y="175484"/>
            <a:ext cx="11016586" cy="711205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 sz="4400" b="1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6096000" y="6530109"/>
            <a:ext cx="60536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0" i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r"/>
            <a:fld id="{F7CE68C9-1898-4F91-91CD-5C5ED7667076}" type="datetime3">
              <a:rPr lang="en-US" smtClean="0"/>
              <a:t>10 June 2026</a:t>
            </a:fld>
            <a:r>
              <a:rPr lang="en-US"/>
              <a:t> | Page </a:t>
            </a:r>
            <a:fld id="{ABE13A69-7510-48BA-B518-3F4112F4C1A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2"/>
          <p:cNvSpPr/>
          <p:nvPr userDrawn="1"/>
        </p:nvSpPr>
        <p:spPr>
          <a:xfrm>
            <a:off x="692727" y="907631"/>
            <a:ext cx="11499273" cy="45719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latin typeface="Calibri" panose="020F050202020403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1600" y="64655"/>
            <a:ext cx="1006672" cy="9651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://asp.net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5343" y="1532139"/>
            <a:ext cx="8500428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ĐỒ ÁN TỐT NGHIỆP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4827" y="2327909"/>
            <a:ext cx="73672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/>
              <a:t>PHÁT TRIỂN TRÒ CHƠI MUTANTS ARENA VỚI HỆ THỐNG TIẾN HÓA GENE BẰNG 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08456"/>
            <a:ext cx="7367244" cy="2452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algn="l">
              <a:lnSpc>
                <a:spcPct val="132000"/>
              </a:lnSpc>
            </a:pPr>
            <a:r>
              <a:rPr lang="en-AU" sz="2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Sinh </a:t>
            </a:r>
            <a:r>
              <a:rPr lang="en-AU" sz="20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viên</a:t>
            </a:r>
            <a:r>
              <a:rPr lang="en-AU" sz="2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AU" sz="20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thực</a:t>
            </a:r>
            <a:r>
              <a:rPr lang="en-AU" sz="2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lang="en-AU" sz="2000" i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hiện</a:t>
            </a:r>
            <a:r>
              <a:rPr lang="en-A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914400" algn="l">
              <a:lnSpc>
                <a:spcPct val="132000"/>
              </a:lnSpc>
            </a:pPr>
            <a:r>
              <a:rPr lang="en-AU" sz="2000" b="1" dirty="0"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Trần Văn Thủy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 – CT060439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914400" algn="l">
              <a:lnSpc>
                <a:spcPct val="132000"/>
              </a:lnSpc>
            </a:pPr>
            <a:r>
              <a:rPr lang="vi-VN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Lớp: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CT6D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457200" algn="l">
              <a:lnSpc>
                <a:spcPct val="132000"/>
              </a:lnSpc>
            </a:pPr>
            <a:r>
              <a:rPr lang="vi-VN" sz="20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Người hướng dẫn: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ordia New" panose="020B0304020202020204" pitchFamily="34" charset="-34"/>
            </a:endParaRPr>
          </a:p>
          <a:p>
            <a:pPr marL="914400" algn="l">
              <a:lnSpc>
                <a:spcPct val="132000"/>
              </a:lnSpc>
            </a:pPr>
            <a:r>
              <a:rPr lang="en-AU" sz="2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TS. Nguyễn Đức Hiếu</a:t>
            </a:r>
          </a:p>
          <a:p>
            <a:pPr marL="914400">
              <a:lnSpc>
                <a:spcPct val="132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Khoa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– Học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endParaRPr lang="vi-V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/>
          <p:cNvSpPr txBox="1"/>
          <p:nvPr/>
        </p:nvSpPr>
        <p:spPr>
          <a:xfrm>
            <a:off x="1119302" y="160087"/>
            <a:ext cx="2254335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3600" b="1" dirty="0" err="1">
                <a:latin typeface="Calibri" panose="020F0502020204030204" pitchFamily="34" charset="0"/>
              </a:rPr>
              <a:t>Đặt</a:t>
            </a:r>
            <a:r>
              <a:rPr lang="en-US" altLang="zh-CN" sz="3600" b="1" dirty="0">
                <a:latin typeface="Calibri" panose="020F0502020204030204" pitchFamily="34" charset="0"/>
              </a:rPr>
              <a:t> </a:t>
            </a:r>
            <a:r>
              <a:rPr lang="en-US" altLang="zh-CN" sz="3600" b="1" dirty="0" err="1">
                <a:latin typeface="Calibri" panose="020F0502020204030204" pitchFamily="34" charset="0"/>
              </a:rPr>
              <a:t>vấn</a:t>
            </a:r>
            <a:r>
              <a:rPr lang="en-US" altLang="zh-CN" sz="3600" b="1" dirty="0">
                <a:latin typeface="Calibri" panose="020F0502020204030204" pitchFamily="34" charset="0"/>
              </a:rPr>
              <a:t> </a:t>
            </a:r>
            <a:r>
              <a:rPr lang="en-US" altLang="zh-CN" sz="3600" b="1" dirty="0" err="1">
                <a:latin typeface="Calibri" panose="020F0502020204030204" pitchFamily="34" charset="0"/>
              </a:rPr>
              <a:t>đề</a:t>
            </a:r>
            <a:endParaRPr lang="en-US" altLang="zh-CN" sz="3600" b="1" dirty="0">
              <a:latin typeface="Calibri" panose="020F0502020204030204" pitchFamily="34" charset="0"/>
            </a:endParaRPr>
          </a:p>
        </p:txBody>
      </p:sp>
      <p:sp>
        <p:nvSpPr>
          <p:cNvPr id="5" name="Content Placeholder 4"/>
          <p:cNvSpPr txBox="1"/>
          <p:nvPr/>
        </p:nvSpPr>
        <p:spPr>
          <a:xfrm>
            <a:off x="635856" y="1018902"/>
            <a:ext cx="11665058" cy="5460275"/>
          </a:xfrm>
        </p:spPr>
        <p:txBody>
          <a:bodyPr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>
              <a:latin typeface="Cambria" panose="02040503050406030204" pitchFamily="18" charset="0"/>
            </a:endParaRPr>
          </a:p>
        </p:txBody>
      </p:sp>
      <p:sp>
        <p:nvSpPr>
          <p:cNvPr id="8" name="Content Placeholder 4"/>
          <p:cNvSpPr txBox="1"/>
          <p:nvPr/>
        </p:nvSpPr>
        <p:spPr>
          <a:xfrm>
            <a:off x="6096000" y="1730754"/>
            <a:ext cx="5578889" cy="3877686"/>
          </a:xfrm>
        </p:spPr>
        <p:txBody>
          <a:bodyPr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 lvl="2" indent="0">
              <a:buNone/>
            </a:pPr>
            <a:endParaRPr lang="en-US" altLang="en-US" dirty="0">
              <a:latin typeface="Cambria" panose="020405030504060302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C36E4C-CCED-EB8F-AD8E-A13B48C04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650" y="1059417"/>
            <a:ext cx="9563100" cy="53792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99961" y="2851554"/>
            <a:ext cx="3236785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5400" b="1">
                <a:solidFill>
                  <a:schemeClr val="accent1"/>
                </a:solidFill>
                <a:latin typeface="Calibri" panose="020F0502020204030204" pitchFamily="34" charset="0"/>
                <a:ea typeface="+mj-ea"/>
                <a:cs typeface="Times New Roman" panose="02020603050405020304" pitchFamily="18" charset="0"/>
              </a:rPr>
              <a:t>NỘI DUNG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363335" y="1516075"/>
            <a:ext cx="6635437" cy="841204"/>
            <a:chOff x="5487735" y="2213434"/>
            <a:chExt cx="5999415" cy="707886"/>
          </a:xfrm>
        </p:grpSpPr>
        <p:sp>
          <p:nvSpPr>
            <p:cNvPr id="5" name="文本框 4"/>
            <p:cNvSpPr txBox="1"/>
            <p:nvPr/>
          </p:nvSpPr>
          <p:spPr>
            <a:xfrm>
              <a:off x="6352704" y="2279211"/>
              <a:ext cx="5134446" cy="46619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3000" b="1" dirty="0">
                  <a:solidFill>
                    <a:schemeClr val="accent2"/>
                  </a:solidFill>
                  <a:latin typeface="Calibri" panose="020F0502020204030204" pitchFamily="34" charset="0"/>
                </a:rPr>
                <a:t>TỔNG QUAN VỀ ĐỀ TÀI</a:t>
              </a: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5487735" y="2213434"/>
              <a:ext cx="840295" cy="707886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4000" b="1" i="1">
                  <a:solidFill>
                    <a:schemeClr val="accent1"/>
                  </a:solidFill>
                  <a:latin typeface="Calibri" panose="020F0502020204030204" pitchFamily="34" charset="0"/>
                </a:rPr>
                <a:t>01.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363335" y="2739042"/>
            <a:ext cx="7399020" cy="707886"/>
            <a:chOff x="5487735" y="2657376"/>
            <a:chExt cx="6521888" cy="707886"/>
          </a:xfrm>
        </p:grpSpPr>
        <p:sp>
          <p:nvSpPr>
            <p:cNvPr id="8" name="文本框 7"/>
            <p:cNvSpPr txBox="1"/>
            <p:nvPr/>
          </p:nvSpPr>
          <p:spPr>
            <a:xfrm>
              <a:off x="6352506" y="2698016"/>
              <a:ext cx="5657117" cy="55308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defRPr sz="2800">
                  <a:solidFill>
                    <a:schemeClr val="accent2"/>
                  </a:solidFill>
                  <a:latin typeface="Calibri" panose="020F0502020204030204" pitchFamily="34" charset="0"/>
                </a:defRPr>
              </a:lvl1pPr>
            </a:lstStyle>
            <a:p>
              <a:r>
                <a:rPr lang="en-US" altLang="zh-CN" sz="3000" b="1" dirty="0"/>
                <a:t>PHÂN TÍCH </a:t>
              </a:r>
              <a:r>
                <a:rPr lang="vi-VN" altLang="en-US" sz="3000" b="1" dirty="0"/>
                <a:t>VÀ </a:t>
              </a:r>
              <a:r>
                <a:rPr lang="en-US" altLang="zh-CN" sz="3000" b="1" dirty="0"/>
                <a:t>THIẾT KẾ HỆ THỐNG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487735" y="2657376"/>
              <a:ext cx="840295" cy="707886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4000" b="1" i="1">
                  <a:solidFill>
                    <a:schemeClr val="accent1"/>
                  </a:solidFill>
                  <a:latin typeface="Calibri" panose="020F0502020204030204" pitchFamily="34" charset="0"/>
                </a:rPr>
                <a:t>02.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363335" y="3784593"/>
            <a:ext cx="6723928" cy="707886"/>
            <a:chOff x="5487735" y="3535840"/>
            <a:chExt cx="5999415" cy="707886"/>
          </a:xfrm>
        </p:grpSpPr>
        <p:sp>
          <p:nvSpPr>
            <p:cNvPr id="11" name="文本框 10"/>
            <p:cNvSpPr txBox="1"/>
            <p:nvPr/>
          </p:nvSpPr>
          <p:spPr>
            <a:xfrm>
              <a:off x="6352704" y="3597939"/>
              <a:ext cx="5134446" cy="55308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defRPr sz="2800">
                  <a:solidFill>
                    <a:schemeClr val="accent2"/>
                  </a:solidFill>
                  <a:latin typeface="Calibri" panose="020F0502020204030204" pitchFamily="34" charset="0"/>
                </a:defRPr>
              </a:lvl1pPr>
            </a:lstStyle>
            <a:p>
              <a:r>
                <a:rPr lang="en-US" altLang="zh-CN" sz="3000" b="1" dirty="0"/>
                <a:t>TRIỂN KHAI</a:t>
              </a:r>
              <a:r>
                <a:rPr lang="vi-VN" altLang="en-US" sz="3000" b="1" dirty="0"/>
                <a:t> HỆ THỐNG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5487735" y="3535840"/>
              <a:ext cx="840295" cy="707886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4000" b="1" i="1" dirty="0">
                  <a:solidFill>
                    <a:schemeClr val="accent1"/>
                  </a:solidFill>
                  <a:latin typeface="Calibri" panose="020F0502020204030204" pitchFamily="34" charset="0"/>
                </a:rPr>
                <a:t>03.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2621DF3-B7F9-C9A6-6C29-40A69B53DF9D}"/>
              </a:ext>
            </a:extLst>
          </p:cNvPr>
          <p:cNvGrpSpPr/>
          <p:nvPr/>
        </p:nvGrpSpPr>
        <p:grpSpPr>
          <a:xfrm>
            <a:off x="4363335" y="4830144"/>
            <a:ext cx="6723928" cy="707886"/>
            <a:chOff x="5487735" y="3735939"/>
            <a:chExt cx="5999415" cy="707886"/>
          </a:xfrm>
        </p:grpSpPr>
        <p:sp>
          <p:nvSpPr>
            <p:cNvPr id="6" name="文本框 10">
              <a:extLst>
                <a:ext uri="{FF2B5EF4-FFF2-40B4-BE49-F238E27FC236}">
                  <a16:creationId xmlns:a16="http://schemas.microsoft.com/office/drawing/2014/main" id="{1B395296-F39B-FE82-D3AA-F020E6612EB2}"/>
                </a:ext>
              </a:extLst>
            </p:cNvPr>
            <p:cNvSpPr txBox="1"/>
            <p:nvPr/>
          </p:nvSpPr>
          <p:spPr>
            <a:xfrm>
              <a:off x="6352704" y="3798038"/>
              <a:ext cx="51344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>
              <a:defPPr>
                <a:defRPr lang="zh-CN"/>
              </a:defPPr>
              <a:lvl1pPr>
                <a:defRPr sz="2800">
                  <a:solidFill>
                    <a:schemeClr val="accent2"/>
                  </a:solidFill>
                  <a:latin typeface="Calibri" panose="020F0502020204030204" pitchFamily="34" charset="0"/>
                </a:defRPr>
              </a:lvl1pPr>
            </a:lstStyle>
            <a:p>
              <a:r>
                <a:rPr lang="en-GB" b="1" dirty="0"/>
                <a:t>KẾT QUẢ VÀ THỰC NGHIỆM</a:t>
              </a:r>
              <a:endParaRPr lang="vi-VN" altLang="en-US" sz="3000" b="1" dirty="0"/>
            </a:p>
          </p:txBody>
        </p:sp>
        <p:sp>
          <p:nvSpPr>
            <p:cNvPr id="7" name="文本框 17">
              <a:extLst>
                <a:ext uri="{FF2B5EF4-FFF2-40B4-BE49-F238E27FC236}">
                  <a16:creationId xmlns:a16="http://schemas.microsoft.com/office/drawing/2014/main" id="{2F697365-C5A4-191F-9B1F-C71CD4123035}"/>
                </a:ext>
              </a:extLst>
            </p:cNvPr>
            <p:cNvSpPr txBox="1"/>
            <p:nvPr/>
          </p:nvSpPr>
          <p:spPr>
            <a:xfrm>
              <a:off x="5487735" y="3735939"/>
              <a:ext cx="749752" cy="707886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4000" b="1" i="1">
                  <a:solidFill>
                    <a:schemeClr val="accent1"/>
                  </a:solidFill>
                  <a:latin typeface="Calibri" panose="020F0502020204030204" pitchFamily="34" charset="0"/>
                </a:rPr>
                <a:t>04.</a:t>
              </a:r>
              <a:endParaRPr lang="en-US" altLang="zh-CN" sz="4000" b="1" i="1" dirty="0">
                <a:solidFill>
                  <a:schemeClr val="accent1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3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4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4713" y="3398461"/>
            <a:ext cx="5012911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TỔNG QUAN VỀ ĐỀ TÀI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74713" y="2482009"/>
            <a:ext cx="3115853" cy="76944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400" b="1">
                <a:solidFill>
                  <a:schemeClr val="accent1"/>
                </a:solidFill>
                <a:latin typeface="Calibri" panose="020F0502020204030204" pitchFamily="34" charset="0"/>
                <a:ea typeface="时尚中黑简体" panose="01010104010101010101" pitchFamily="2" charset="-122"/>
              </a:rPr>
              <a:t>CHƯƠNG 01</a:t>
            </a:r>
            <a:endParaRPr lang="zh-CN" altLang="en-US" sz="4400" b="1">
              <a:solidFill>
                <a:schemeClr val="accent1"/>
              </a:solidFill>
              <a:latin typeface="Calibri" panose="020F0502020204030204" pitchFamily="34" charset="0"/>
              <a:ea typeface="时尚中黑简体" panose="0101010401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1014413" y="3294178"/>
            <a:ext cx="709987" cy="0"/>
          </a:xfrm>
          <a:prstGeom prst="line">
            <a:avLst/>
          </a:prstGeom>
          <a:ln w="28575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/>
          <p:cNvSpPr txBox="1"/>
          <p:nvPr/>
        </p:nvSpPr>
        <p:spPr>
          <a:xfrm>
            <a:off x="1140733" y="145800"/>
            <a:ext cx="4198585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 2D Action RPG</a:t>
            </a:r>
            <a:endParaRPr lang="zh-CN" altLang="en-US" sz="3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Content Placeholder 4"/>
          <p:cNvSpPr txBox="1"/>
          <p:nvPr/>
        </p:nvSpPr>
        <p:spPr>
          <a:xfrm>
            <a:off x="43761" y="1579774"/>
            <a:ext cx="6669860" cy="3563726"/>
          </a:xfrm>
        </p:spPr>
        <p:txBody>
          <a:bodyPr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5175" lvl="2" indent="-240030">
              <a:buFont typeface="Wingdings" panose="05000000000000000000" pitchFamily="2" charset="2"/>
              <a:buChar char="Ø"/>
            </a:pPr>
            <a:r>
              <a:rPr lang="vi-VN" sz="2400" dirty="0">
                <a:latin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</a:rPr>
              <a:t>Game </a:t>
            </a:r>
            <a:r>
              <a:rPr lang="en-GB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2D Action RPG</a:t>
            </a:r>
            <a:r>
              <a:rPr lang="vi-VN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sự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kết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hợp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hài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hòa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giữa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cơ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chế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điều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khiển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phản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xạ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thời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gian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trên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bản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đồ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di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đa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nền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tảng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platformer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cùng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chiều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sâu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phát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triển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nhân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vật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thông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qua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chỉ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số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trang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bị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kỹ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 err="1">
                <a:latin typeface="Cambria" panose="02040503050406030204" pitchFamily="18" charset="0"/>
                <a:ea typeface="Cambria" panose="02040503050406030204" pitchFamily="18" charset="0"/>
              </a:rPr>
              <a:t>năng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582FBE-567F-2527-E24B-BBCE635E5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142" y="1654343"/>
            <a:ext cx="4168941" cy="41689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C2279-3CA2-404D-2C78-01FE09AAC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>
            <a:extLst>
              <a:ext uri="{FF2B5EF4-FFF2-40B4-BE49-F238E27FC236}">
                <a16:creationId xmlns:a16="http://schemas.microsoft.com/office/drawing/2014/main" id="{856B9CE0-25E7-A05A-1364-91735BA1536F}"/>
              </a:ext>
            </a:extLst>
          </p:cNvPr>
          <p:cNvSpPr txBox="1"/>
          <p:nvPr/>
        </p:nvSpPr>
        <p:spPr>
          <a:xfrm>
            <a:off x="1140733" y="145800"/>
            <a:ext cx="4801314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Bài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học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thiết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game	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238347C-CE6B-50F4-B777-265797CC8868}"/>
              </a:ext>
            </a:extLst>
          </p:cNvPr>
          <p:cNvSpPr txBox="1"/>
          <p:nvPr/>
        </p:nvSpPr>
        <p:spPr>
          <a:xfrm>
            <a:off x="272361" y="1170700"/>
            <a:ext cx="11665058" cy="1381397"/>
          </a:xfrm>
        </p:spPr>
        <p:txBody>
          <a:bodyPr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145" lvl="2" indent="0">
              <a:buNone/>
            </a:pPr>
            <a:r>
              <a:rPr lang="en-US" altLang="en-US" sz="2400" dirty="0">
                <a:latin typeface="Cambria" panose="02040503050406030204" pitchFamily="18" charset="0"/>
              </a:rPr>
              <a:t> </a:t>
            </a: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AutoShape 4" descr="Tổng quan về hệ thống tính năng">
            <a:extLst>
              <a:ext uri="{FF2B5EF4-FFF2-40B4-BE49-F238E27FC236}">
                <a16:creationId xmlns:a16="http://schemas.microsoft.com/office/drawing/2014/main" id="{354E2A1C-41E1-C5CF-B6AA-A7EE744AEC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B039F2-B630-A022-8193-AA9CFC46AC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72" y="1269331"/>
            <a:ext cx="11887656" cy="475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073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D008F-FD32-A88C-FCD7-905BFFEDB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>
            <a:extLst>
              <a:ext uri="{FF2B5EF4-FFF2-40B4-BE49-F238E27FC236}">
                <a16:creationId xmlns:a16="http://schemas.microsoft.com/office/drawing/2014/main" id="{981BCA21-3A39-050C-F437-6CF9390DC9AA}"/>
              </a:ext>
            </a:extLst>
          </p:cNvPr>
          <p:cNvSpPr txBox="1"/>
          <p:nvPr/>
        </p:nvSpPr>
        <p:spPr>
          <a:xfrm>
            <a:off x="1140733" y="145800"/>
            <a:ext cx="6647974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Lý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thuyết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di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&amp; AI FSM	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5B0A7D3-959A-08A4-15E1-72EBAADB9F52}"/>
              </a:ext>
            </a:extLst>
          </p:cNvPr>
          <p:cNvSpPr txBox="1"/>
          <p:nvPr/>
        </p:nvSpPr>
        <p:spPr>
          <a:xfrm>
            <a:off x="272361" y="1170700"/>
            <a:ext cx="11665058" cy="1381397"/>
          </a:xfrm>
        </p:spPr>
        <p:txBody>
          <a:bodyPr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25145" lvl="2" indent="0">
              <a:buNone/>
            </a:pPr>
            <a:r>
              <a:rPr lang="en-US" altLang="en-US" sz="2400" dirty="0">
                <a:latin typeface="Cambria" panose="02040503050406030204" pitchFamily="18" charset="0"/>
              </a:rPr>
              <a:t> </a:t>
            </a:r>
            <a:endParaRPr lang="en-US" alt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AutoShape 4" descr="Tổng quan về hệ thống tính năng">
            <a:extLst>
              <a:ext uri="{FF2B5EF4-FFF2-40B4-BE49-F238E27FC236}">
                <a16:creationId xmlns:a16="http://schemas.microsoft.com/office/drawing/2014/main" id="{70CDF6AF-48E5-BC42-CA5E-23F7E42EC0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EE3168-94F9-34D2-1EF9-577F25E10C3F}"/>
              </a:ext>
            </a:extLst>
          </p:cNvPr>
          <p:cNvSpPr txBox="1"/>
          <p:nvPr/>
        </p:nvSpPr>
        <p:spPr>
          <a:xfrm>
            <a:off x="641024" y="1170700"/>
            <a:ext cx="595774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000" b="1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Vật</a:t>
            </a:r>
            <a:r>
              <a:rPr lang="en-GB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GB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di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GB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2D Box2D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Sử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lực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gia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tốc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vận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tốc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ngang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kết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hợp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điều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chỉnh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trọng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lực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rơi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lớn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hơn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trọng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lực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bay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lên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qua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cơ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chế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Variable Gravity Jump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tạo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cảm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giác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điều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khiển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mượt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mà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chân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Ground Detection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Sử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OverlapCircle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phát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chân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chạm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đất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cấp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quyền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nhảy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Finite State Machine FSM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cho</a:t>
            </a:r>
            <a:r>
              <a:rPr lang="en-GB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quái</a:t>
            </a:r>
            <a:r>
              <a:rPr lang="en-GB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vật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AI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quái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vật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được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mô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hình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hóa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thành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trạng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thái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rời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rạc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 Idle/Patrol 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tuần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 Chase 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đuổi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theo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người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chơi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 Attack 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tấn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khi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đủ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gần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Hit/Dead 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nhận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sát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thương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hoặc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chết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giải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phóng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tài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nguyên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Giúp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logic AI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đơn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giản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dễ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sửa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lỗi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tối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ưu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hóa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tài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nguyên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CPU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cho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máy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chủ</a:t>
            </a:r>
            <a:r>
              <a:rPr lang="en-GB" b="0" i="0" dirty="0">
                <a:solidFill>
                  <a:srgbClr val="333333"/>
                </a:solidFill>
                <a:effectLst/>
                <a:latin typeface="Helvetica Neue"/>
              </a:rPr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522637-DCF3-6F2C-3BE6-61D360350F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8084" y="1952260"/>
            <a:ext cx="5606591" cy="325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200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8F183D-90D2-A866-FE96-1C5299299D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678" y="1702704"/>
            <a:ext cx="5196811" cy="3760836"/>
          </a:xfrm>
          <a:prstGeom prst="rect">
            <a:avLst/>
          </a:prstGeom>
        </p:spPr>
      </p:pic>
      <p:sp>
        <p:nvSpPr>
          <p:cNvPr id="3" name="文本框 28"/>
          <p:cNvSpPr txBox="1"/>
          <p:nvPr/>
        </p:nvSpPr>
        <p:spPr>
          <a:xfrm>
            <a:off x="1140733" y="145800"/>
            <a:ext cx="6620467" cy="55399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Phát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triển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nhân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vật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&amp; Tiến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hóa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Gene</a:t>
            </a:r>
          </a:p>
        </p:txBody>
      </p:sp>
      <p:sp>
        <p:nvSpPr>
          <p:cNvPr id="2" name="Content Placeholder 4"/>
          <p:cNvSpPr txBox="1"/>
          <p:nvPr/>
        </p:nvSpPr>
        <p:spPr>
          <a:xfrm>
            <a:off x="263471" y="1170700"/>
            <a:ext cx="11665058" cy="1381397"/>
          </a:xfrm>
        </p:spPr>
        <p:txBody>
          <a:bodyPr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5175" lvl="2" indent="-240030">
              <a:buFont typeface="Wingdings" panose="05000000000000000000" pitchFamily="2" charset="2"/>
              <a:buChar char="Ø"/>
            </a:pPr>
            <a:endParaRPr lang="en-US" altLang="en-US" sz="2400" dirty="0">
              <a:latin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2DFAE1-5EFA-1A55-88B2-277D50BD0629}"/>
              </a:ext>
            </a:extLst>
          </p:cNvPr>
          <p:cNvSpPr txBox="1"/>
          <p:nvPr/>
        </p:nvSpPr>
        <p:spPr>
          <a:xfrm>
            <a:off x="618953" y="1170700"/>
            <a:ext cx="6112765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Khái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niệm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tiến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hóa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Gene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Thay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thế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cơ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chế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chọn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lớp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nhân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vật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truyền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cho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phép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nhân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vật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tự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do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phát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triển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thông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qua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việc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mở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khóa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nâng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cấp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nhánh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Gene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thuộc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tính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ngũ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hành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Cơ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chế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Multi-Gene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Hỗ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trợ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khảm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đồng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thời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1 Gene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chính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nhận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100%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hiệu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năng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chỉ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số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kỹ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năng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cùng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Gene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phụ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(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nhận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30%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chỉ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số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cộng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thêm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),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tạo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nên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hướng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build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cực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kỳ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đa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dạng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Dung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hợp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Hybrid Fusion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Khi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đạt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cấp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độ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tối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đa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ở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cả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Gene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chính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Gene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phụ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thuộc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hai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nguyên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tố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khác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nhau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người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chơi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thể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tiến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hành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dung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hợp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mở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khóa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lớp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nhân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vật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lai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sức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mạnh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vượt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trội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Gene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tối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thượng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Cấp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độ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tiến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hóa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cao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nhất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dung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hợp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thành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Gene lai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đạt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phẩm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chất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cực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hạn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mở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khóa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kỹ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năng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nộ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chủ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diện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rộng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cục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diện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trận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đấu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/>
          <p:cNvSpPr txBox="1"/>
          <p:nvPr/>
        </p:nvSpPr>
        <p:spPr>
          <a:xfrm>
            <a:off x="1140733" y="145800"/>
            <a:ext cx="6666761" cy="55399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Kiến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trúc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mạng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&amp; Công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nghệ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sử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endParaRPr lang="en-GB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20954" y="6105883"/>
            <a:ext cx="6126480" cy="450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1200"/>
              </a:spcAft>
            </a:pPr>
            <a:r>
              <a:rPr lang="vi-VN" altLang="en-AU" sz="1800" i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Sơ đồ hoạt động Ethereum</a:t>
            </a:r>
          </a:p>
        </p:txBody>
      </p:sp>
      <p:sp>
        <p:nvSpPr>
          <p:cNvPr id="2" name="Content Placeholder 4"/>
          <p:cNvSpPr txBox="1"/>
          <p:nvPr/>
        </p:nvSpPr>
        <p:spPr>
          <a:xfrm>
            <a:off x="263471" y="1170700"/>
            <a:ext cx="11665058" cy="1381397"/>
          </a:xfrm>
        </p:spPr>
        <p:txBody>
          <a:bodyPr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68045" lvl="2" indent="-342900">
              <a:buFont typeface="Wingdings" panose="05000000000000000000" charset="0"/>
              <a:buChar char="Ø"/>
            </a:pPr>
            <a:r>
              <a:rPr lang="en-US" altLang="en-US" sz="2400" b="1" dirty="0">
                <a:latin typeface="Cambria" panose="02040503050406030204" pitchFamily="18" charset="0"/>
              </a:rPr>
              <a:t>Ethereum </a:t>
            </a:r>
            <a:r>
              <a:rPr lang="en-US" altLang="en-US" sz="2400" dirty="0" err="1">
                <a:latin typeface="Cambria" panose="02040503050406030204" pitchFamily="18" charset="0"/>
              </a:rPr>
              <a:t>là</a:t>
            </a:r>
            <a:r>
              <a:rPr lang="en-US" altLang="en-US" sz="2400" dirty="0">
                <a:latin typeface="Cambria" panose="02040503050406030204" pitchFamily="18" charset="0"/>
              </a:rPr>
              <a:t> </a:t>
            </a:r>
            <a:r>
              <a:rPr lang="en-US" altLang="en-US" sz="2400" dirty="0" err="1">
                <a:latin typeface="Cambria" panose="02040503050406030204" pitchFamily="18" charset="0"/>
              </a:rPr>
              <a:t>nền</a:t>
            </a:r>
            <a:r>
              <a:rPr lang="en-US" altLang="en-US" sz="2400" dirty="0">
                <a:latin typeface="Cambria" panose="02040503050406030204" pitchFamily="18" charset="0"/>
              </a:rPr>
              <a:t> </a:t>
            </a:r>
            <a:r>
              <a:rPr lang="en-US" altLang="en-US" sz="2400" dirty="0" err="1">
                <a:latin typeface="Cambria" panose="02040503050406030204" pitchFamily="18" charset="0"/>
              </a:rPr>
              <a:t>tảng</a:t>
            </a:r>
            <a:r>
              <a:rPr lang="en-US" altLang="en-US" sz="2400" dirty="0">
                <a:latin typeface="Cambria" panose="02040503050406030204" pitchFamily="18" charset="0"/>
              </a:rPr>
              <a:t> </a:t>
            </a:r>
            <a:r>
              <a:rPr lang="en-US" altLang="en-US" sz="2400" dirty="0" err="1">
                <a:latin typeface="Cambria" panose="02040503050406030204" pitchFamily="18" charset="0"/>
              </a:rPr>
              <a:t>máy</a:t>
            </a:r>
            <a:r>
              <a:rPr lang="en-US" altLang="en-US" sz="2400" dirty="0">
                <a:latin typeface="Cambria" panose="02040503050406030204" pitchFamily="18" charset="0"/>
              </a:rPr>
              <a:t> </a:t>
            </a:r>
            <a:r>
              <a:rPr lang="en-US" altLang="en-US" sz="2400" dirty="0" err="1">
                <a:latin typeface="Cambria" panose="02040503050406030204" pitchFamily="18" charset="0"/>
              </a:rPr>
              <a:t>tính</a:t>
            </a:r>
            <a:r>
              <a:rPr lang="en-US" altLang="en-US" sz="2400" dirty="0">
                <a:latin typeface="Cambria" panose="02040503050406030204" pitchFamily="18" charset="0"/>
              </a:rPr>
              <a:t> </a:t>
            </a:r>
            <a:r>
              <a:rPr lang="en-US" altLang="en-US" sz="2400" dirty="0" err="1">
                <a:latin typeface="Cambria" panose="02040503050406030204" pitchFamily="18" charset="0"/>
              </a:rPr>
              <a:t>phân</a:t>
            </a:r>
            <a:r>
              <a:rPr lang="en-US" altLang="en-US" sz="2400" dirty="0">
                <a:latin typeface="Cambria" panose="02040503050406030204" pitchFamily="18" charset="0"/>
              </a:rPr>
              <a:t> </a:t>
            </a:r>
            <a:r>
              <a:rPr lang="en-US" altLang="en-US" sz="2400" dirty="0" err="1">
                <a:latin typeface="Cambria" panose="02040503050406030204" pitchFamily="18" charset="0"/>
              </a:rPr>
              <a:t>tán</a:t>
            </a:r>
            <a:r>
              <a:rPr lang="en-US" altLang="en-US" sz="2400" dirty="0">
                <a:latin typeface="Cambria" panose="02040503050406030204" pitchFamily="18" charset="0"/>
              </a:rPr>
              <a:t> </a:t>
            </a:r>
            <a:r>
              <a:rPr lang="en-US" altLang="en-US" sz="2400" dirty="0" err="1">
                <a:latin typeface="Cambria" panose="02040503050406030204" pitchFamily="18" charset="0"/>
              </a:rPr>
              <a:t>mã</a:t>
            </a:r>
            <a:r>
              <a:rPr lang="en-US" altLang="en-US" sz="2400" dirty="0">
                <a:latin typeface="Cambria" panose="02040503050406030204" pitchFamily="18" charset="0"/>
              </a:rPr>
              <a:t> </a:t>
            </a:r>
            <a:r>
              <a:rPr lang="en-US" altLang="en-US" sz="2400" dirty="0" err="1">
                <a:latin typeface="Cambria" panose="02040503050406030204" pitchFamily="18" charset="0"/>
              </a:rPr>
              <a:t>nguồn</a:t>
            </a:r>
            <a:r>
              <a:rPr lang="en-US" altLang="en-US" sz="2400" dirty="0">
                <a:latin typeface="Cambria" panose="02040503050406030204" pitchFamily="18" charset="0"/>
              </a:rPr>
              <a:t> </a:t>
            </a:r>
            <a:r>
              <a:rPr lang="en-US" altLang="en-US" sz="2400" dirty="0" err="1">
                <a:latin typeface="Cambria" panose="02040503050406030204" pitchFamily="18" charset="0"/>
              </a:rPr>
              <a:t>mở</a:t>
            </a:r>
            <a:r>
              <a:rPr lang="en-US" altLang="en-US" sz="2400" dirty="0">
                <a:latin typeface="Cambria" panose="02040503050406030204" pitchFamily="18" charset="0"/>
              </a:rPr>
              <a:t> </a:t>
            </a:r>
            <a:r>
              <a:rPr lang="en-US" altLang="en-US" sz="2400" dirty="0" err="1">
                <a:latin typeface="Cambria" panose="02040503050406030204" pitchFamily="18" charset="0"/>
              </a:rPr>
              <a:t>dựa</a:t>
            </a:r>
            <a:r>
              <a:rPr lang="en-US" altLang="en-US" sz="2400" dirty="0">
                <a:latin typeface="Cambria" panose="02040503050406030204" pitchFamily="18" charset="0"/>
              </a:rPr>
              <a:t> </a:t>
            </a:r>
            <a:r>
              <a:rPr lang="en-US" altLang="en-US" sz="2400" dirty="0" err="1">
                <a:latin typeface="Cambria" panose="02040503050406030204" pitchFamily="18" charset="0"/>
              </a:rPr>
              <a:t>trên</a:t>
            </a:r>
            <a:r>
              <a:rPr lang="en-US" altLang="en-US" sz="2400" dirty="0">
                <a:latin typeface="Cambria" panose="02040503050406030204" pitchFamily="18" charset="0"/>
              </a:rPr>
              <a:t> </a:t>
            </a:r>
            <a:r>
              <a:rPr lang="en-US" altLang="en-US" sz="2400" dirty="0" err="1">
                <a:latin typeface="Cambria" panose="02040503050406030204" pitchFamily="18" charset="0"/>
              </a:rPr>
              <a:t>công</a:t>
            </a:r>
            <a:r>
              <a:rPr lang="en-US" altLang="en-US" sz="2400" dirty="0">
                <a:latin typeface="Cambria" panose="02040503050406030204" pitchFamily="18" charset="0"/>
              </a:rPr>
              <a:t> </a:t>
            </a:r>
            <a:r>
              <a:rPr lang="en-US" altLang="en-US" sz="2400" dirty="0" err="1">
                <a:latin typeface="Cambria" panose="02040503050406030204" pitchFamily="18" charset="0"/>
              </a:rPr>
              <a:t>nghệ</a:t>
            </a:r>
            <a:r>
              <a:rPr lang="en-US" altLang="en-US" sz="2400" dirty="0">
                <a:latin typeface="Cambria" panose="02040503050406030204" pitchFamily="18" charset="0"/>
              </a:rPr>
              <a:t> </a:t>
            </a:r>
            <a:r>
              <a:rPr lang="en-US" altLang="en-US" sz="2400" dirty="0" err="1">
                <a:latin typeface="Cambria" panose="02040503050406030204" pitchFamily="18" charset="0"/>
              </a:rPr>
              <a:t>chuỗi</a:t>
            </a:r>
            <a:r>
              <a:rPr lang="en-US" altLang="en-US" sz="2400" dirty="0">
                <a:latin typeface="Cambria" panose="02040503050406030204" pitchFamily="18" charset="0"/>
              </a:rPr>
              <a:t> </a:t>
            </a:r>
            <a:r>
              <a:rPr lang="en-US" altLang="en-US" sz="2400" dirty="0" err="1">
                <a:latin typeface="Cambria" panose="02040503050406030204" pitchFamily="18" charset="0"/>
              </a:rPr>
              <a:t>khối</a:t>
            </a:r>
            <a:r>
              <a:rPr lang="en-US" altLang="en-US" sz="2400" dirty="0">
                <a:latin typeface="Cambria" panose="02040503050406030204" pitchFamily="18" charset="0"/>
              </a:rPr>
              <a:t>, </a:t>
            </a:r>
            <a:r>
              <a:rPr lang="en-US" altLang="en-US" sz="2400" dirty="0" err="1">
                <a:latin typeface="Cambria" panose="02040503050406030204" pitchFamily="18" charset="0"/>
              </a:rPr>
              <a:t>cho</a:t>
            </a:r>
            <a:r>
              <a:rPr lang="en-US" altLang="en-US" sz="2400" dirty="0">
                <a:latin typeface="Cambria" panose="02040503050406030204" pitchFamily="18" charset="0"/>
              </a:rPr>
              <a:t> </a:t>
            </a:r>
            <a:r>
              <a:rPr lang="en-US" altLang="en-US" sz="2400" dirty="0" err="1">
                <a:latin typeface="Cambria" panose="02040503050406030204" pitchFamily="18" charset="0"/>
              </a:rPr>
              <a:t>phép</a:t>
            </a:r>
            <a:r>
              <a:rPr lang="en-US" altLang="en-US" sz="2400" dirty="0">
                <a:latin typeface="Cambria" panose="02040503050406030204" pitchFamily="18" charset="0"/>
              </a:rPr>
              <a:t> </a:t>
            </a:r>
            <a:r>
              <a:rPr lang="en-US" altLang="en-US" sz="2400" dirty="0" err="1">
                <a:latin typeface="Cambria" panose="02040503050406030204" pitchFamily="18" charset="0"/>
              </a:rPr>
              <a:t>thực</a:t>
            </a:r>
            <a:r>
              <a:rPr lang="en-US" altLang="en-US" sz="2400" dirty="0">
                <a:latin typeface="Cambria" panose="02040503050406030204" pitchFamily="18" charset="0"/>
              </a:rPr>
              <a:t> </a:t>
            </a:r>
            <a:r>
              <a:rPr lang="en-US" altLang="en-US" sz="2400" dirty="0" err="1">
                <a:latin typeface="Cambria" panose="02040503050406030204" pitchFamily="18" charset="0"/>
              </a:rPr>
              <a:t>thi</a:t>
            </a:r>
            <a:r>
              <a:rPr lang="en-US" altLang="en-US" sz="2400" dirty="0">
                <a:latin typeface="Cambria" panose="02040503050406030204" pitchFamily="18" charset="0"/>
              </a:rPr>
              <a:t> </a:t>
            </a:r>
            <a:r>
              <a:rPr lang="en-US" altLang="en-US" sz="2400" dirty="0" err="1">
                <a:latin typeface="Cambria" panose="02040503050406030204" pitchFamily="18" charset="0"/>
              </a:rPr>
              <a:t>hợp</a:t>
            </a:r>
            <a:r>
              <a:rPr lang="en-US" altLang="en-US" sz="2400" dirty="0">
                <a:latin typeface="Cambria" panose="02040503050406030204" pitchFamily="18" charset="0"/>
              </a:rPr>
              <a:t> </a:t>
            </a:r>
            <a:r>
              <a:rPr lang="en-US" altLang="en-US" sz="2400" dirty="0" err="1">
                <a:latin typeface="Cambria" panose="02040503050406030204" pitchFamily="18" charset="0"/>
              </a:rPr>
              <a:t>đồng</a:t>
            </a:r>
            <a:r>
              <a:rPr lang="en-US" altLang="en-US" sz="2400" dirty="0">
                <a:latin typeface="Cambria" panose="02040503050406030204" pitchFamily="18" charset="0"/>
              </a:rPr>
              <a:t> </a:t>
            </a:r>
            <a:r>
              <a:rPr lang="en-US" altLang="en-US" sz="2400" dirty="0" err="1">
                <a:latin typeface="Cambria" panose="02040503050406030204" pitchFamily="18" charset="0"/>
              </a:rPr>
              <a:t>thông</a:t>
            </a:r>
            <a:r>
              <a:rPr lang="en-US" altLang="en-US" sz="2400" dirty="0">
                <a:latin typeface="Cambria" panose="02040503050406030204" pitchFamily="18" charset="0"/>
              </a:rPr>
              <a:t> </a:t>
            </a:r>
            <a:r>
              <a:rPr lang="en-US" altLang="en-US" sz="2400" dirty="0" err="1">
                <a:latin typeface="Cambria" panose="02040503050406030204" pitchFamily="18" charset="0"/>
              </a:rPr>
              <a:t>minh</a:t>
            </a:r>
            <a:r>
              <a:rPr lang="en-US" altLang="en-US" sz="2400" dirty="0">
                <a:latin typeface="Cambria" panose="02040503050406030204" pitchFamily="18" charset="0"/>
              </a:rPr>
              <a:t> (smart contract)</a:t>
            </a:r>
          </a:p>
        </p:txBody>
      </p:sp>
      <p:pic>
        <p:nvPicPr>
          <p:cNvPr id="4" name="Picture 3" descr="EVM (Ethereum Virtual Machine) là gì? Tìm hiểu crypto 2022">
            <a:extLst>
              <a:ext uri="{FF2B5EF4-FFF2-40B4-BE49-F238E27FC236}">
                <a16:creationId xmlns:a16="http://schemas.microsoft.com/office/drawing/2014/main" id="{6B62D431-ECFC-1940-7721-A7BF448DF8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8955" y="2267187"/>
            <a:ext cx="7697238" cy="3906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/>
          <p:cNvSpPr txBox="1"/>
          <p:nvPr/>
        </p:nvSpPr>
        <p:spPr>
          <a:xfrm>
            <a:off x="1140733" y="145800"/>
            <a:ext cx="7954550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Kiến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trúc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mạng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&amp; Công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nghệ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sử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endParaRPr lang="en-GB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37451D-07DB-E9C2-FEED-13681A3138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33" y="963510"/>
            <a:ext cx="10043725" cy="55667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4713" y="3357821"/>
            <a:ext cx="7538085" cy="70675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000" b="1">
                <a:latin typeface="Calibri" panose="020F0502020204030204" pitchFamily="34" charset="0"/>
                <a:cs typeface="Calibri" panose="020F0502020204030204" pitchFamily="34" charset="0"/>
              </a:rPr>
              <a:t>PHÂN TÍCH </a:t>
            </a:r>
            <a:r>
              <a:rPr lang="vi-VN" altLang="en-US" sz="4000" b="1">
                <a:latin typeface="Calibri" panose="020F0502020204030204" pitchFamily="34" charset="0"/>
                <a:cs typeface="Calibri" panose="020F0502020204030204" pitchFamily="34" charset="0"/>
              </a:rPr>
              <a:t>VÀ </a:t>
            </a:r>
            <a:r>
              <a:rPr lang="en-US" altLang="zh-CN" sz="4000" b="1">
                <a:latin typeface="Calibri" panose="020F0502020204030204" pitchFamily="34" charset="0"/>
                <a:cs typeface="Calibri" panose="020F0502020204030204" pitchFamily="34" charset="0"/>
              </a:rPr>
              <a:t>THIẾT KẾ HỆ THỐNG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74713" y="2441369"/>
            <a:ext cx="3115853" cy="76944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400" b="1">
                <a:solidFill>
                  <a:schemeClr val="accent1"/>
                </a:solidFill>
                <a:latin typeface="Calibri" panose="020F0502020204030204" pitchFamily="34" charset="0"/>
                <a:ea typeface="时尚中黑简体" panose="01010104010101010101" pitchFamily="2" charset="-122"/>
              </a:rPr>
              <a:t>CHƯƠNG 02</a:t>
            </a:r>
            <a:endParaRPr lang="zh-CN" altLang="en-US" sz="4400" b="1">
              <a:solidFill>
                <a:schemeClr val="accent1"/>
              </a:solidFill>
              <a:latin typeface="Calibri" panose="020F0502020204030204" pitchFamily="34" charset="0"/>
              <a:ea typeface="时尚中黑简体" panose="0101010401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1014413" y="3294178"/>
            <a:ext cx="709987" cy="0"/>
          </a:xfrm>
          <a:prstGeom prst="line">
            <a:avLst/>
          </a:prstGeom>
          <a:ln w="28575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6AA407F-A51B-9D48-6A82-4602290429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381" y="1857080"/>
            <a:ext cx="5666850" cy="3515490"/>
          </a:xfrm>
          <a:prstGeom prst="rect">
            <a:avLst/>
          </a:prstGeom>
        </p:spPr>
      </p:pic>
      <p:sp>
        <p:nvSpPr>
          <p:cNvPr id="3" name="文本框 28"/>
          <p:cNvSpPr txBox="1"/>
          <p:nvPr/>
        </p:nvSpPr>
        <p:spPr>
          <a:xfrm>
            <a:off x="1140733" y="145800"/>
            <a:ext cx="3139001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3600" b="1" dirty="0" err="1">
                <a:latin typeface="Calibri" panose="020F0502020204030204" pitchFamily="34" charset="0"/>
              </a:rPr>
              <a:t>Mô</a:t>
            </a:r>
            <a:r>
              <a:rPr lang="en-US" altLang="zh-CN" sz="3600" b="1" dirty="0">
                <a:latin typeface="Calibri" panose="020F0502020204030204" pitchFamily="34" charset="0"/>
              </a:rPr>
              <a:t> </a:t>
            </a:r>
            <a:r>
              <a:rPr lang="en-US" altLang="zh-CN" sz="3600" b="1" dirty="0" err="1">
                <a:latin typeface="Calibri" panose="020F0502020204030204" pitchFamily="34" charset="0"/>
              </a:rPr>
              <a:t>tả</a:t>
            </a:r>
            <a:r>
              <a:rPr lang="en-US" altLang="zh-CN" sz="3600" b="1" dirty="0">
                <a:latin typeface="Calibri" panose="020F0502020204030204" pitchFamily="34" charset="0"/>
              </a:rPr>
              <a:t> </a:t>
            </a:r>
            <a:r>
              <a:rPr lang="en-US" altLang="zh-CN" sz="3600" b="1" dirty="0" err="1">
                <a:latin typeface="Calibri" panose="020F0502020204030204" pitchFamily="34" charset="0"/>
              </a:rPr>
              <a:t>hệ</a:t>
            </a:r>
            <a:r>
              <a:rPr lang="en-US" altLang="zh-CN" sz="3600" b="1" dirty="0">
                <a:latin typeface="Calibri" panose="020F0502020204030204" pitchFamily="34" charset="0"/>
              </a:rPr>
              <a:t> </a:t>
            </a:r>
            <a:r>
              <a:rPr lang="en-US" altLang="zh-CN" sz="3600" b="1" dirty="0" err="1">
                <a:latin typeface="Calibri" panose="020F0502020204030204" pitchFamily="34" charset="0"/>
              </a:rPr>
              <a:t>thống</a:t>
            </a:r>
            <a:endParaRPr lang="zh-CN" altLang="en-US" sz="3600" b="1" dirty="0">
              <a:latin typeface="Calibri" panose="020F0502020204030204" pitchFamily="34" charset="0"/>
            </a:endParaRPr>
          </a:p>
        </p:txBody>
      </p:sp>
      <p:sp>
        <p:nvSpPr>
          <p:cNvPr id="5" name="Content Placeholder 4"/>
          <p:cNvSpPr txBox="1"/>
          <p:nvPr/>
        </p:nvSpPr>
        <p:spPr>
          <a:xfrm>
            <a:off x="555585" y="1394750"/>
            <a:ext cx="11192534" cy="4806635"/>
          </a:xfrm>
        </p:spPr>
        <p:txBody>
          <a:bodyPr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50000"/>
              </a:lnSpc>
              <a:buNone/>
            </a:pPr>
            <a:endParaRPr lang="vi-VN" sz="2200" dirty="0">
              <a:latin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05E02D-D2F6-7922-6B53-A9FF1F31D9FD}"/>
              </a:ext>
            </a:extLst>
          </p:cNvPr>
          <p:cNvSpPr txBox="1"/>
          <p:nvPr/>
        </p:nvSpPr>
        <p:spPr>
          <a:xfrm>
            <a:off x="633953" y="1184627"/>
            <a:ext cx="609442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000" b="1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Tầng</a:t>
            </a:r>
            <a:r>
              <a:rPr lang="en-GB" sz="2000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Client Unity Client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Xây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dựng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trên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ngôn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ngữ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C#,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chịu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trách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nhiệm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render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hình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ảnh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hoạt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ảnh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nhân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vật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xử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đoán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di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Client-side prediction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gửi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input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điều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khiển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mạng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lên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Server.</a:t>
            </a: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000" b="1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Tầng</a:t>
            </a:r>
            <a:r>
              <a:rPr lang="en-GB" sz="2000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Server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Dedicated Server Unity Headless: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Chạy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logic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vật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chạm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AI FSM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quái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vật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tính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toán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sát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thương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thời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gian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API &amp;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SignalR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Server </a:t>
            </a:r>
            <a:r>
              <a:rPr lang="en-GB" sz="2000" b="0" u="none" strike="noStrike" dirty="0">
                <a:effectLst/>
                <a:latin typeface="Cambria" panose="02040503050406030204" pitchFamily="18" charset="0"/>
                <a:ea typeface="Cambria" panose="020405030504060302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ASP.NET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Core 8: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Xác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JWT,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lưu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trữ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tiến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qua EF Core,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sảnh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chờ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kênh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chat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tổ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đội</a:t>
            </a:r>
            <a:r>
              <a:rPr lang="en-GB" sz="2000" b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000" b="1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Tầng</a:t>
            </a:r>
            <a:r>
              <a:rPr lang="en-GB" sz="2000" b="1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Database MySQL Database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Lưu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trữ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thông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tin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tài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khoản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nhân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vật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túi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đồ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trang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bị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cấu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hình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GB" sz="20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/>
          <p:cNvSpPr txBox="1"/>
          <p:nvPr/>
        </p:nvSpPr>
        <p:spPr>
          <a:xfrm>
            <a:off x="1140733" y="145800"/>
            <a:ext cx="3362331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3600" b="1">
                <a:latin typeface="Calibri" panose="020F0502020204030204" pitchFamily="34" charset="0"/>
              </a:rPr>
              <a:t>Biểu đồ use case</a:t>
            </a:r>
            <a:endParaRPr lang="zh-CN" altLang="en-US" sz="3600" b="1">
              <a:latin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F87CF2-2E00-3B6B-438C-BEAA4E8EF0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817" y="1316330"/>
            <a:ext cx="7973538" cy="47155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/>
          <p:cNvSpPr txBox="1"/>
          <p:nvPr/>
        </p:nvSpPr>
        <p:spPr>
          <a:xfrm>
            <a:off x="1140733" y="145800"/>
            <a:ext cx="5264150" cy="64516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3600" b="1">
                <a:latin typeface="Calibri" panose="020F0502020204030204" pitchFamily="34" charset="0"/>
              </a:rPr>
              <a:t>Biểu đồ use case </a:t>
            </a:r>
            <a:r>
              <a:rPr lang="vi-VN" altLang="en-US" sz="3600" b="1">
                <a:latin typeface="Calibri" panose="020F0502020204030204" pitchFamily="34" charset="0"/>
              </a:rPr>
              <a:t>tổng quát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vi-VN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075337" y="6093230"/>
            <a:ext cx="4368800" cy="291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AU" altLang="en-US" sz="13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Biểu</a:t>
            </a:r>
            <a:r>
              <a:rPr kumimoji="0" lang="en-AU" altLang="en-US" sz="13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r>
              <a:rPr kumimoji="0" lang="en-AU" altLang="en-US" sz="13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đồ</a:t>
            </a:r>
            <a:r>
              <a:rPr kumimoji="0" lang="en-AU" altLang="en-US" sz="13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 Use Case </a:t>
            </a:r>
            <a:r>
              <a:rPr kumimoji="0" lang="vi-VN" altLang="en-AU" sz="13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tổng quát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DA11DB-F908-E9CA-C173-9CD6926A71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083" y="1000391"/>
            <a:ext cx="9218474" cy="514938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/>
          <p:cNvSpPr txBox="1"/>
          <p:nvPr/>
        </p:nvSpPr>
        <p:spPr>
          <a:xfrm>
            <a:off x="1140733" y="145800"/>
            <a:ext cx="8084136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Biểu</a:t>
            </a:r>
            <a:r>
              <a:rPr lang="en-US" altLang="zh-CN" sz="3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CN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đồ</a:t>
            </a:r>
            <a:r>
              <a:rPr lang="en-US" altLang="zh-CN" sz="3600" b="1" dirty="0">
                <a:latin typeface="Cambria" panose="02040503050406030204" pitchFamily="18" charset="0"/>
                <a:ea typeface="Cambria" panose="02040503050406030204" pitchFamily="18" charset="0"/>
              </a:rPr>
              <a:t> use case </a:t>
            </a:r>
            <a:r>
              <a:rPr lang="en-GB" altLang="zh-CN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hiến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đấu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&amp;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Kỹ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năng</a:t>
            </a:r>
            <a:endParaRPr lang="en-GB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080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vi-VN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075337" y="5992741"/>
            <a:ext cx="43688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AU" altLang="en-US" sz="130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Biểu</a:t>
            </a:r>
            <a:r>
              <a:rPr kumimoji="0" lang="en-AU" altLang="en-US" sz="13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AU" altLang="en-US" sz="130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đồ</a:t>
            </a:r>
            <a:r>
              <a:rPr kumimoji="0" lang="en-AU" altLang="en-US" sz="13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Use Case </a:t>
            </a:r>
            <a:r>
              <a:rPr lang="en-GB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Chiến</a:t>
            </a:r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đấu</a:t>
            </a:r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GB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GB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GB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vi-VN" altLang="en-AU" sz="1300" i="1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873E99-9BB1-75B0-CA8E-A2B14B4DB9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6423" y="1257065"/>
            <a:ext cx="6470382" cy="4400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0B6AB-DAE4-9B65-AAE1-F4524B94A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>
            <a:extLst>
              <a:ext uri="{FF2B5EF4-FFF2-40B4-BE49-F238E27FC236}">
                <a16:creationId xmlns:a16="http://schemas.microsoft.com/office/drawing/2014/main" id="{B88A5791-C1D1-82AF-6A9F-077D4B131175}"/>
              </a:ext>
            </a:extLst>
          </p:cNvPr>
          <p:cNvSpPr txBox="1"/>
          <p:nvPr/>
        </p:nvSpPr>
        <p:spPr>
          <a:xfrm>
            <a:off x="1140733" y="145800"/>
            <a:ext cx="6768199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Biểu</a:t>
            </a:r>
            <a:r>
              <a:rPr lang="en-US" altLang="zh-CN" sz="3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CN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đồ</a:t>
            </a:r>
            <a:r>
              <a:rPr lang="en-US" altLang="zh-CN" sz="3600" b="1" dirty="0">
                <a:latin typeface="Cambria" panose="02040503050406030204" pitchFamily="18" charset="0"/>
                <a:ea typeface="Cambria" panose="02040503050406030204" pitchFamily="18" charset="0"/>
              </a:rPr>
              <a:t> use case 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Tiến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hóa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Gene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D06CF02A-50DB-B4C8-8900-90E21F04D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vi-V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3A705D-8033-D359-D921-E05931764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5337" y="6085073"/>
            <a:ext cx="43688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AU" altLang="en-US" sz="140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Biểu</a:t>
            </a:r>
            <a:r>
              <a:rPr kumimoji="0" lang="en-AU" altLang="en-US" sz="14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AU" altLang="en-US" sz="140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đồ</a:t>
            </a:r>
            <a:r>
              <a:rPr kumimoji="0" lang="en-AU" altLang="en-US" sz="14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Use Case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Tiến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0F53EA-3F51-5A4D-BD17-7A69263BC7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939" y="1500322"/>
            <a:ext cx="8501816" cy="38573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7191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/>
          <p:cNvSpPr txBox="1"/>
          <p:nvPr/>
        </p:nvSpPr>
        <p:spPr>
          <a:xfrm>
            <a:off x="1140733" y="145800"/>
            <a:ext cx="9840899" cy="55399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Biểu</a:t>
            </a:r>
            <a:r>
              <a:rPr lang="en-US" altLang="zh-CN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zh-CN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đồ</a:t>
            </a:r>
            <a:r>
              <a:rPr lang="en-US" altLang="zh-CN" sz="3000" b="1" dirty="0">
                <a:latin typeface="Cambria" panose="02040503050406030204" pitchFamily="18" charset="0"/>
                <a:ea typeface="Cambria" panose="02040503050406030204" pitchFamily="18" charset="0"/>
              </a:rPr>
              <a:t> use case 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Tham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gia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phó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bản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hoàn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tất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phó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bản</a:t>
            </a:r>
            <a:endParaRPr lang="en-GB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5080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vi-VN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4075337" y="6085073"/>
            <a:ext cx="436880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AU" altLang="en-US" sz="140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Biểu</a:t>
            </a:r>
            <a:r>
              <a:rPr kumimoji="0" lang="en-AU" altLang="en-US" sz="14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AU" altLang="en-US" sz="140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đồ</a:t>
            </a:r>
            <a:r>
              <a:rPr kumimoji="0" lang="en-AU" altLang="en-US" sz="14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Use Case 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Tham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phó</a:t>
            </a: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AC6E0-312F-4FE7-959C-3955947CC3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289" y="2015153"/>
            <a:ext cx="10208282" cy="2775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/>
          <p:cNvSpPr txBox="1"/>
          <p:nvPr/>
        </p:nvSpPr>
        <p:spPr>
          <a:xfrm>
            <a:off x="1140733" y="145800"/>
            <a:ext cx="5221686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Cơ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sở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dữ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vật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ERD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07B153-41F0-2C5D-0FA6-CA9185163D46}"/>
              </a:ext>
            </a:extLst>
          </p:cNvPr>
          <p:cNvSpPr txBox="1"/>
          <p:nvPr/>
        </p:nvSpPr>
        <p:spPr>
          <a:xfrm>
            <a:off x="1272708" y="1405728"/>
            <a:ext cx="8472339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000" b="1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Sơ</a:t>
            </a:r>
            <a:r>
              <a:rPr lang="en-GB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đồ</a:t>
            </a:r>
            <a:r>
              <a:rPr lang="en-GB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GB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thể</a:t>
            </a:r>
            <a:r>
              <a:rPr lang="en-GB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ERD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Gồm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bảng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liên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kết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chặt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chẽ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như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000" b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Users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(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tài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khoản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), </a:t>
            </a:r>
            <a:r>
              <a:rPr lang="en-GB" sz="2000" b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Player_Data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(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chỉ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số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nhân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vật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), </a:t>
            </a:r>
            <a:r>
              <a:rPr lang="en-GB" sz="2000" b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Inventory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(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vật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phẩm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), </a:t>
            </a:r>
            <a:r>
              <a:rPr lang="en-GB" sz="2000" b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Gene_Data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(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dữ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Gene).</a:t>
            </a:r>
          </a:p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000" b="1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Thiết</a:t>
            </a:r>
            <a:r>
              <a:rPr lang="en-GB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kế</a:t>
            </a:r>
            <a:r>
              <a:rPr lang="en-GB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JSON Column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linh</a:t>
            </a:r>
            <a:r>
              <a:rPr lang="en-GB" sz="2000" b="1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hoạt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800100" lvl="1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Lưu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trữ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trực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tiếp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dữ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cấu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trúc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như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danh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sách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chỉ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số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phụ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trang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bị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cường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hóa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ngẫu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nhiên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trạng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thái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nhiệm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vụ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đang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nhận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danh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sách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kỹ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năng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nhanh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800100" lvl="1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Tối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ưu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hóa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Tránh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tạo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quá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nhiều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bảng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liên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kết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1-nhiều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phức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tạp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giảm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thiểu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số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lượng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truy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vấn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000" b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JOIN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lớn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giúp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tăng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tốc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độ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đọc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ghi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dữ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nhân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vật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lên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đến</a:t>
            </a:r>
            <a:r>
              <a:rPr lang="en-GB" sz="2000" b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40%.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1C695-C1B6-877F-7701-4C7EC25A8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>
            <a:extLst>
              <a:ext uri="{FF2B5EF4-FFF2-40B4-BE49-F238E27FC236}">
                <a16:creationId xmlns:a16="http://schemas.microsoft.com/office/drawing/2014/main" id="{749F0E6E-FA80-9854-AF35-7AC2F2FA4A2F}"/>
              </a:ext>
            </a:extLst>
          </p:cNvPr>
          <p:cNvSpPr txBox="1"/>
          <p:nvPr/>
        </p:nvSpPr>
        <p:spPr>
          <a:xfrm>
            <a:off x="1140733" y="145800"/>
            <a:ext cx="5221686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Cơ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sở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dữ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vật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ERD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0E7448-82EE-64F4-1E51-F411DB0B0C74}"/>
              </a:ext>
            </a:extLst>
          </p:cNvPr>
          <p:cNvSpPr txBox="1"/>
          <p:nvPr/>
        </p:nvSpPr>
        <p:spPr>
          <a:xfrm>
            <a:off x="2970961" y="6221376"/>
            <a:ext cx="6115050" cy="414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1200"/>
              </a:spcAft>
            </a:pP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5BD45F-4768-0137-7E6E-C1858CCD2A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122" y="1133499"/>
            <a:ext cx="9605824" cy="5005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554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4713" y="3398461"/>
            <a:ext cx="6260304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sz="4000" b="1" dirty="0" err="1">
                <a:latin typeface="Cambria" panose="02040503050406030204" pitchFamily="18" charset="0"/>
                <a:ea typeface="Cambria" panose="02040503050406030204" pitchFamily="18" charset="0"/>
              </a:rPr>
              <a:t>Xây</a:t>
            </a:r>
            <a:r>
              <a:rPr lang="en-GB" sz="4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4000" b="1" dirty="0" err="1">
                <a:latin typeface="Cambria" panose="02040503050406030204" pitchFamily="18" charset="0"/>
                <a:ea typeface="Cambria" panose="02040503050406030204" pitchFamily="18" charset="0"/>
              </a:rPr>
              <a:t>dựng</a:t>
            </a:r>
            <a:r>
              <a:rPr lang="en-GB" sz="4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4000" b="1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GB" sz="4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4000" b="1" dirty="0" err="1">
                <a:latin typeface="Cambria" panose="02040503050406030204" pitchFamily="18" charset="0"/>
                <a:ea typeface="Cambria" panose="02040503050406030204" pitchFamily="18" charset="0"/>
              </a:rPr>
              <a:t>cơ</a:t>
            </a:r>
            <a:r>
              <a:rPr lang="en-GB" sz="4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4000" b="1" dirty="0" err="1">
                <a:latin typeface="Cambria" panose="02040503050406030204" pitchFamily="18" charset="0"/>
                <a:ea typeface="Cambria" panose="02040503050406030204" pitchFamily="18" charset="0"/>
              </a:rPr>
              <a:t>chế</a:t>
            </a:r>
            <a:r>
              <a:rPr lang="en-GB" sz="4000" b="1" dirty="0">
                <a:latin typeface="Cambria" panose="02040503050406030204" pitchFamily="18" charset="0"/>
                <a:ea typeface="Cambria" panose="02040503050406030204" pitchFamily="18" charset="0"/>
              </a:rPr>
              <a:t> game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74713" y="2482009"/>
            <a:ext cx="3116559" cy="76944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400" b="1">
                <a:solidFill>
                  <a:schemeClr val="accent1"/>
                </a:solidFill>
                <a:latin typeface="Calibri" panose="020F0502020204030204" pitchFamily="34" charset="0"/>
                <a:ea typeface="时尚中黑简体" panose="01010104010101010101" pitchFamily="2" charset="-122"/>
              </a:rPr>
              <a:t>CHƯƠNG 03</a:t>
            </a:r>
            <a:endParaRPr lang="zh-CN" altLang="en-US" sz="4400" b="1">
              <a:solidFill>
                <a:schemeClr val="accent1"/>
              </a:solidFill>
              <a:latin typeface="Calibri" panose="020F0502020204030204" pitchFamily="34" charset="0"/>
              <a:ea typeface="时尚中黑简体" panose="0101010401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1014413" y="3294178"/>
            <a:ext cx="709987" cy="0"/>
          </a:xfrm>
          <a:prstGeom prst="line">
            <a:avLst/>
          </a:prstGeom>
          <a:ln w="28575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/>
          <p:cNvSpPr txBox="1"/>
          <p:nvPr/>
        </p:nvSpPr>
        <p:spPr>
          <a:xfrm>
            <a:off x="1140733" y="145800"/>
            <a:ext cx="9547807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sz="3600" b="1" dirty="0" err="1"/>
              <a:t>Xây</a:t>
            </a:r>
            <a:r>
              <a:rPr lang="en-GB" sz="3600" b="1" dirty="0"/>
              <a:t> </a:t>
            </a:r>
            <a:r>
              <a:rPr lang="en-GB" sz="3600" b="1" dirty="0" err="1"/>
              <a:t>dựng</a:t>
            </a:r>
            <a:r>
              <a:rPr lang="en-GB" sz="3600" b="1" dirty="0"/>
              <a:t> </a:t>
            </a:r>
            <a:r>
              <a:rPr lang="en-GB" sz="3600" b="1" dirty="0" err="1"/>
              <a:t>hệ</a:t>
            </a:r>
            <a:r>
              <a:rPr lang="en-GB" sz="3600" b="1" dirty="0"/>
              <a:t> </a:t>
            </a:r>
            <a:r>
              <a:rPr lang="en-GB" sz="3600" b="1" dirty="0" err="1"/>
              <a:t>thống</a:t>
            </a:r>
            <a:r>
              <a:rPr lang="en-GB" sz="3600" b="1" dirty="0"/>
              <a:t> </a:t>
            </a:r>
            <a:r>
              <a:rPr lang="en-GB" sz="3600" b="1" dirty="0" err="1"/>
              <a:t>điều</a:t>
            </a:r>
            <a:r>
              <a:rPr lang="en-GB" sz="3600" b="1" dirty="0"/>
              <a:t> </a:t>
            </a:r>
            <a:r>
              <a:rPr lang="en-GB" sz="3600" b="1" dirty="0" err="1"/>
              <a:t>khiển</a:t>
            </a:r>
            <a:r>
              <a:rPr lang="en-GB" sz="3600" b="1" dirty="0"/>
              <a:t> &amp; di </a:t>
            </a:r>
            <a:r>
              <a:rPr lang="en-GB" sz="3600" b="1" dirty="0" err="1"/>
              <a:t>chuyển</a:t>
            </a:r>
            <a:endParaRPr lang="en-GB" sz="3600" b="1" dirty="0"/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vi-VN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753598" y="3986312"/>
            <a:ext cx="68480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AU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9A85D7-409E-4BBA-D71E-6CB1F6122BCF}"/>
              </a:ext>
            </a:extLst>
          </p:cNvPr>
          <p:cNvSpPr txBox="1"/>
          <p:nvPr/>
        </p:nvSpPr>
        <p:spPr>
          <a:xfrm>
            <a:off x="1687381" y="1613118"/>
            <a:ext cx="8682103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Animator Controller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Thiết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lập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đồ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thị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trạng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thái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nhân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vật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tức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thì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theo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input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bằng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cách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đặt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Exit Time = 0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Transition Duration = 0.05s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giữa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hoạt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ảnh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chạy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nhảy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lướt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Coyote Time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Cho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phép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người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chơi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nhảy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khoảng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0.1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giây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ngay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cả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vừa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hụt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ra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khỏi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mép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vực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Jump Buffer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Lưu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lệnh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nhảy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nhấn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trước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chạm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đất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tối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đa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0.15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giây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tự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kích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hoạt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ngay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chạm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đất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đảm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bảo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điều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khiển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mượt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mà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liên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tục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Dash I-Frames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Lập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trình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trạng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thái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bất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tử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ngắn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0.2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giây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lướt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nhanh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bằng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cách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tắt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tạm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thời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chạm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nhân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vật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hitbox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đòn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đánh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của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quái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vật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CCA4C-F6FB-98F6-5ADC-F407521F1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>
            <a:extLst>
              <a:ext uri="{FF2B5EF4-FFF2-40B4-BE49-F238E27FC236}">
                <a16:creationId xmlns:a16="http://schemas.microsoft.com/office/drawing/2014/main" id="{0BB22085-2048-4084-C09C-08329A1A52F2}"/>
              </a:ext>
            </a:extLst>
          </p:cNvPr>
          <p:cNvSpPr txBox="1"/>
          <p:nvPr/>
        </p:nvSpPr>
        <p:spPr>
          <a:xfrm>
            <a:off x="1140733" y="145800"/>
            <a:ext cx="9197839" cy="55399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Xây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dựng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cơ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chế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chiến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đấu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&amp;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Tương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khắc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Ngũ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hành</a:t>
            </a:r>
            <a:endParaRPr lang="en-GB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3ECF5AB-DB7F-EC6C-0867-5110429C0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vi-V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8CEE4D-6168-CFFC-51C5-2881E4711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598" y="3986312"/>
            <a:ext cx="68480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AU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4B2326-8379-E6DE-7F06-4D51C70DE1D5}"/>
              </a:ext>
            </a:extLst>
          </p:cNvPr>
          <p:cNvSpPr txBox="1"/>
          <p:nvPr/>
        </p:nvSpPr>
        <p:spPr>
          <a:xfrm>
            <a:off x="1593130" y="1480009"/>
            <a:ext cx="937024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Hitbox &amp;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Hurtbox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Triển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khai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bằng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Trigger Collider 2D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trên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Dedicated Server. Khi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xảy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ra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chạm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server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tính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toán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sát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thương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trực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tiếp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client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chỉ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chịu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trách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nhiệm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render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hiệu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ứng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hoạt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ảnh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text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sát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thương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damage pop-up.</a:t>
            </a: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Vòng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tương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khắc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Ngũ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Hành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Kim ➔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Mộc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➔ Thủy ➔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Hỏa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➔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Thổ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➔ Kim.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Tấn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khắc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được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nhân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x1.5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sát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thương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;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bị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khắc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giảm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còn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x0.75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sát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thương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thứ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6 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Phong Wind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đóng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vai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trò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là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trung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lập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đặc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biệt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không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khắc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không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bị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khắc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bởi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5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còn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lại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số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sát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thương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nhân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x1.0,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giúp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tăng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tính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cân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bằng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chiến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thuật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Công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thức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sát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thương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cuối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 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Damage = ATK * </a:t>
            </a:r>
            <a:r>
              <a:rPr lang="en-GB" sz="2000" b="0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skill_mult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* </a:t>
            </a:r>
            <a:r>
              <a:rPr lang="en-GB" sz="2000" b="0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element_mult</a:t>
            </a:r>
            <a:r>
              <a:rPr lang="en-GB" sz="2000" b="0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- DEF * </a:t>
            </a:r>
            <a:r>
              <a:rPr lang="en-GB" sz="2000" b="0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red_factor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Luôn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đảm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bảo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tối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thiểu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gây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1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sát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thương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tránh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lỗi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bất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tử</a:t>
            </a:r>
            <a:r>
              <a:rPr lang="en-GB" sz="2000" b="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22647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2D093-1CF2-68D9-B894-9E629DC4D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372E975-3E77-E230-16EE-6C4B29B4C0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9652" y="1775876"/>
            <a:ext cx="5802348" cy="3444966"/>
          </a:xfrm>
          <a:prstGeom prst="rect">
            <a:avLst/>
          </a:prstGeom>
        </p:spPr>
      </p:pic>
      <p:sp>
        <p:nvSpPr>
          <p:cNvPr id="3" name="文本框 28">
            <a:extLst>
              <a:ext uri="{FF2B5EF4-FFF2-40B4-BE49-F238E27FC236}">
                <a16:creationId xmlns:a16="http://schemas.microsoft.com/office/drawing/2014/main" id="{D3A88CF6-625B-1B0D-51B3-22878C5B20B7}"/>
              </a:ext>
            </a:extLst>
          </p:cNvPr>
          <p:cNvSpPr txBox="1"/>
          <p:nvPr/>
        </p:nvSpPr>
        <p:spPr>
          <a:xfrm>
            <a:off x="1140733" y="145800"/>
            <a:ext cx="8924623" cy="55399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Xây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dựng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hệ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thống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AI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quái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vật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&amp; Boss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đa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giai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đoạn</a:t>
            </a:r>
            <a:endParaRPr lang="en-GB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749949C-86CD-0F39-948A-BA10EC688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vi-V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F78B342-014A-7D36-F6FF-A78EB8786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598" y="3986312"/>
            <a:ext cx="68480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AU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467C25-AB1C-1E0D-08F8-0F0E081A4ADF}"/>
              </a:ext>
            </a:extLst>
          </p:cNvPr>
          <p:cNvSpPr txBox="1"/>
          <p:nvPr/>
        </p:nvSpPr>
        <p:spPr>
          <a:xfrm>
            <a:off x="527794" y="1344742"/>
            <a:ext cx="591060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000" b="1" dirty="0">
                <a:latin typeface="Cambria" panose="02040503050406030204" pitchFamily="18" charset="0"/>
                <a:ea typeface="Cambria" panose="02040503050406030204" pitchFamily="18" charset="0"/>
              </a:rPr>
              <a:t>Dedicated Server FSM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Chạy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tuần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hoàn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kiểm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tra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khoảng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cách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kỳ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trạng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thái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tuần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tra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đuổi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theo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tấn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người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chơi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gần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nhất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vùng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phát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000" b="1" dirty="0">
                <a:latin typeface="Cambria" panose="02040503050406030204" pitchFamily="18" charset="0"/>
                <a:ea typeface="Cambria" panose="02040503050406030204" pitchFamily="18" charset="0"/>
              </a:rPr>
              <a:t>Boss Phase System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Boss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được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cấu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hình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đa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giai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đoạn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dựa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trên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phần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trăm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HP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còn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lại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ví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dụ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Phase 1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có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100% HP, Phase 2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dưới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60% HP, Phase 3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dưới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30% HP.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Khi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giai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đoạn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, Boss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tự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kích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hoạt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animation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trạng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thái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pattern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tấn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tăng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tốc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độ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sát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thương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tạo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thử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thách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tăng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dần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cho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người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chơi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Cấu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hình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giai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đoạn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boss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được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nạp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từ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database qua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cột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phases_json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71258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40CE2-BC6A-A657-77C3-ED8271049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>
            <a:extLst>
              <a:ext uri="{FF2B5EF4-FFF2-40B4-BE49-F238E27FC236}">
                <a16:creationId xmlns:a16="http://schemas.microsoft.com/office/drawing/2014/main" id="{01315AA2-0709-9A6E-0819-23FF13E0CAFF}"/>
              </a:ext>
            </a:extLst>
          </p:cNvPr>
          <p:cNvSpPr txBox="1"/>
          <p:nvPr/>
        </p:nvSpPr>
        <p:spPr>
          <a:xfrm>
            <a:off x="1140733" y="145800"/>
            <a:ext cx="9087937" cy="553998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Triển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khai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cơ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chế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đồng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bộ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di </a:t>
            </a:r>
            <a:r>
              <a:rPr lang="en-GB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GB" sz="3000" b="1" dirty="0">
                <a:latin typeface="Cambria" panose="02040503050406030204" pitchFamily="18" charset="0"/>
                <a:ea typeface="Cambria" panose="02040503050406030204" pitchFamily="18" charset="0"/>
              </a:rPr>
              <a:t> &amp; Zone Server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15EDD94-0A72-7313-1A48-5A5846E30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vi-V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6BBD836-7002-A46A-8BA0-22800756C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598" y="3986312"/>
            <a:ext cx="68480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AU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A55A83-2870-1BEC-D34A-70966AE050EA}"/>
              </a:ext>
            </a:extLst>
          </p:cNvPr>
          <p:cNvSpPr txBox="1"/>
          <p:nvPr/>
        </p:nvSpPr>
        <p:spPr>
          <a:xfrm>
            <a:off x="1470474" y="1476718"/>
            <a:ext cx="908793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000" b="1" dirty="0">
                <a:latin typeface="Cambria" panose="02040503050406030204" pitchFamily="18" charset="0"/>
                <a:ea typeface="Cambria" panose="02040503050406030204" pitchFamily="18" charset="0"/>
              </a:rPr>
              <a:t>Client-prediction &amp; Server Reconciliation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Client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đoán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di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render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tức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thì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triệt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tiêu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cảm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giác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trễ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mạng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Server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gửi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State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chuẩn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; client so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khớp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nếu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sai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lệch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vượt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ngưỡng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, client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tự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mượt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mà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lướt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về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vị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trí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chuẩn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từ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Server,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loại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bỏ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tượng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giật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lùi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rubber banding.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2000" b="1" dirty="0">
                <a:latin typeface="Cambria" panose="02040503050406030204" pitchFamily="18" charset="0"/>
                <a:ea typeface="Cambria" panose="02040503050406030204" pitchFamily="18" charset="0"/>
              </a:rPr>
              <a:t>Zone-based Server &amp; Instance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Bản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đồ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thế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giới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được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chia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nhỏ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thành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Zone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độc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lập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quản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lý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bởi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ZoneRoomRegistry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Người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chơi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chỉ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nhận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gói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tin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đồng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bộ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từ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đối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tượng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cùng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Zone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tối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ưu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băng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thông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Tạo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phó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bản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Dungeon Instance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riêng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tư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cho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tổ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đội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tự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giải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phóng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tài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nguyên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sau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khi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phó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bản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hoàn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thành</a:t>
            </a:r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8450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/>
          <p:cNvSpPr txBox="1"/>
          <p:nvPr/>
        </p:nvSpPr>
        <p:spPr>
          <a:xfrm>
            <a:off x="1140733" y="145800"/>
            <a:ext cx="1628775" cy="64516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l"/>
            <a:r>
              <a:rPr lang="vi-VN" altLang="en-US" sz="3600" b="1">
                <a:latin typeface="Calibri" panose="020F0502020204030204" pitchFamily="34" charset="0"/>
                <a:sym typeface="+mn-ea"/>
              </a:rPr>
              <a:t>Kết quả</a:t>
            </a:r>
            <a:endParaRPr lang="en-US" altLang="zh-CN" sz="3600" b="1">
              <a:latin typeface="Calibri" panose="020F0502020204030204" pitchFamily="34" charset="0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vi-VN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753598" y="3986312"/>
            <a:ext cx="68480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AU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90438" y="5608440"/>
            <a:ext cx="3974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Sảnh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GB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DD5474-6E06-8DDA-4CA2-DB319C87D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385" y="1951348"/>
            <a:ext cx="5384874" cy="29999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1C5160-BF5F-C0AE-5F52-24CF76D4B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402" y="1951348"/>
            <a:ext cx="5495324" cy="299991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/>
          <p:cNvSpPr txBox="1"/>
          <p:nvPr/>
        </p:nvSpPr>
        <p:spPr>
          <a:xfrm>
            <a:off x="1140733" y="145800"/>
            <a:ext cx="1628775" cy="64516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l"/>
            <a:r>
              <a:rPr lang="vi-VN" altLang="en-US" sz="3600" b="1">
                <a:latin typeface="Calibri" panose="020F0502020204030204" pitchFamily="34" charset="0"/>
                <a:sym typeface="+mn-ea"/>
              </a:rPr>
              <a:t>Kết quả</a:t>
            </a:r>
            <a:endParaRPr lang="en-US" altLang="zh-CN" sz="3600" b="1">
              <a:latin typeface="Calibri" panose="020F0502020204030204" pitchFamily="34" charset="0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vi-VN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753598" y="3986312"/>
            <a:ext cx="68480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AU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92821" y="5741362"/>
            <a:ext cx="4679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Dung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 &amp; Trang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endParaRPr lang="en-GB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D26662-D433-7764-78F4-F962F248BD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33" y="1216058"/>
            <a:ext cx="3708852" cy="42633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159DDE-C552-E98A-ED83-379A19D48F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342" y="1444658"/>
            <a:ext cx="6352039" cy="380610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5E23F-9161-8014-6C0F-B324E78E3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>
            <a:extLst>
              <a:ext uri="{FF2B5EF4-FFF2-40B4-BE49-F238E27FC236}">
                <a16:creationId xmlns:a16="http://schemas.microsoft.com/office/drawing/2014/main" id="{1DD3FEE3-7F73-7AC1-FD2A-17F29958F1FD}"/>
              </a:ext>
            </a:extLst>
          </p:cNvPr>
          <p:cNvSpPr txBox="1"/>
          <p:nvPr/>
        </p:nvSpPr>
        <p:spPr>
          <a:xfrm>
            <a:off x="1140733" y="145800"/>
            <a:ext cx="1628775" cy="64516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l"/>
            <a:r>
              <a:rPr lang="vi-VN" altLang="en-US" sz="3600" b="1">
                <a:latin typeface="Calibri" panose="020F0502020204030204" pitchFamily="34" charset="0"/>
                <a:sym typeface="+mn-ea"/>
              </a:rPr>
              <a:t>Kết quả</a:t>
            </a:r>
            <a:endParaRPr lang="en-US" altLang="zh-CN" sz="3600" b="1">
              <a:latin typeface="Calibri" panose="020F050202020403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ECF87F5-8D07-7209-5FA7-CE46CBBEB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vi-V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626A3B8-064B-A06D-5AD1-26EBD9CC9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598" y="3986312"/>
            <a:ext cx="68480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AU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42DE1E-6DFF-126A-F92C-2DEA5FBAFA44}"/>
              </a:ext>
            </a:extLst>
          </p:cNvPr>
          <p:cNvSpPr txBox="1"/>
          <p:nvPr/>
        </p:nvSpPr>
        <p:spPr>
          <a:xfrm>
            <a:off x="2868025" y="5741362"/>
            <a:ext cx="6103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/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 Slot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89EDCB-716A-B65F-AA22-0D59C649E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098" y="1665953"/>
            <a:ext cx="5238495" cy="29227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F231CC-372E-E7DE-4E93-653C902AC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23" y="1687859"/>
            <a:ext cx="5238494" cy="288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758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3420A-E558-AB3D-4E08-46F2474D1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>
            <a:extLst>
              <a:ext uri="{FF2B5EF4-FFF2-40B4-BE49-F238E27FC236}">
                <a16:creationId xmlns:a16="http://schemas.microsoft.com/office/drawing/2014/main" id="{48CEEA2A-0764-4118-D4AE-F94FC6DC0C24}"/>
              </a:ext>
            </a:extLst>
          </p:cNvPr>
          <p:cNvSpPr txBox="1"/>
          <p:nvPr/>
        </p:nvSpPr>
        <p:spPr>
          <a:xfrm>
            <a:off x="1140733" y="145800"/>
            <a:ext cx="1628775" cy="64516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l"/>
            <a:r>
              <a:rPr lang="vi-VN" altLang="en-US" sz="3600" b="1">
                <a:latin typeface="Calibri" panose="020F0502020204030204" pitchFamily="34" charset="0"/>
                <a:sym typeface="+mn-ea"/>
              </a:rPr>
              <a:t>Kết quả</a:t>
            </a:r>
            <a:endParaRPr lang="en-US" altLang="zh-CN" sz="3600" b="1">
              <a:latin typeface="Calibri" panose="020F050202020403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02E9B75-0ACE-E257-9796-B3F32EAB0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vi-V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10F427C-1BAC-BC3C-911A-F60CB0FC8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598" y="3986312"/>
            <a:ext cx="68480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AU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DBB70E-ED5D-F967-6AEC-EB1F4DEA6EBA}"/>
              </a:ext>
            </a:extLst>
          </p:cNvPr>
          <p:cNvSpPr txBox="1"/>
          <p:nvPr/>
        </p:nvSpPr>
        <p:spPr>
          <a:xfrm>
            <a:off x="3992821" y="5741362"/>
            <a:ext cx="4384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endParaRPr lang="en-GB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036EE7-C0C1-A37F-1C1B-C261BBA1FF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88" y="2011296"/>
            <a:ext cx="4524375" cy="16287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AF955C-D2E5-4CC4-2546-B696C7D1C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401" y="1101119"/>
            <a:ext cx="4380244" cy="4149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95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ED1BA-5BB4-CFF2-2C78-32A42FB4C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>
            <a:extLst>
              <a:ext uri="{FF2B5EF4-FFF2-40B4-BE49-F238E27FC236}">
                <a16:creationId xmlns:a16="http://schemas.microsoft.com/office/drawing/2014/main" id="{FB41C290-0EEB-CFA3-4140-8774BD9F0BC2}"/>
              </a:ext>
            </a:extLst>
          </p:cNvPr>
          <p:cNvSpPr txBox="1"/>
          <p:nvPr/>
        </p:nvSpPr>
        <p:spPr>
          <a:xfrm>
            <a:off x="1140733" y="145800"/>
            <a:ext cx="1628775" cy="64516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l"/>
            <a:r>
              <a:rPr lang="vi-VN" altLang="en-US" sz="3600" b="1">
                <a:latin typeface="Calibri" panose="020F0502020204030204" pitchFamily="34" charset="0"/>
                <a:sym typeface="+mn-ea"/>
              </a:rPr>
              <a:t>Kết quả</a:t>
            </a:r>
            <a:endParaRPr lang="en-US" altLang="zh-CN" sz="3600" b="1">
              <a:latin typeface="Calibri" panose="020F050202020403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8DF2A11-402D-B3A2-A373-530BA25FA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vi-V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283EF10-8B64-6C66-5D9B-DE0614BA7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598" y="3986312"/>
            <a:ext cx="68480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AU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5CD2A1-6FBC-1831-8165-5275EF5D6E86}"/>
              </a:ext>
            </a:extLst>
          </p:cNvPr>
          <p:cNvSpPr txBox="1"/>
          <p:nvPr/>
        </p:nvSpPr>
        <p:spPr>
          <a:xfrm>
            <a:off x="3992821" y="5741362"/>
            <a:ext cx="4679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Dung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 &amp; Trang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endParaRPr lang="en-GB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AB0056-B265-FFA2-B56D-FE19E0CF29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33" y="1216058"/>
            <a:ext cx="3708852" cy="42633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68C6FC9-84E3-E898-6310-CBDE5AE415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342" y="1444658"/>
            <a:ext cx="6352039" cy="3806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6724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1E7CC-7599-412E-9E56-3D8937A44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>
            <a:extLst>
              <a:ext uri="{FF2B5EF4-FFF2-40B4-BE49-F238E27FC236}">
                <a16:creationId xmlns:a16="http://schemas.microsoft.com/office/drawing/2014/main" id="{0C345B2E-430B-FBFA-E9C4-4275A328BC3E}"/>
              </a:ext>
            </a:extLst>
          </p:cNvPr>
          <p:cNvSpPr txBox="1"/>
          <p:nvPr/>
        </p:nvSpPr>
        <p:spPr>
          <a:xfrm>
            <a:off x="1140733" y="145800"/>
            <a:ext cx="1628775" cy="64516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l"/>
            <a:r>
              <a:rPr lang="vi-VN" altLang="en-US" sz="3600" b="1">
                <a:latin typeface="Calibri" panose="020F0502020204030204" pitchFamily="34" charset="0"/>
                <a:sym typeface="+mn-ea"/>
              </a:rPr>
              <a:t>Kết quả</a:t>
            </a:r>
            <a:endParaRPr lang="en-US" altLang="zh-CN" sz="3600" b="1">
              <a:latin typeface="Calibri" panose="020F050202020403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D83D41F-05CF-7D19-310C-C2220E618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vi-V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CB53196-8469-7055-AB8B-28A363EEB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598" y="3986312"/>
            <a:ext cx="68480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AU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5B52EDB-ABBC-B94F-3032-45498B5B0853}"/>
              </a:ext>
            </a:extLst>
          </p:cNvPr>
          <p:cNvSpPr txBox="1"/>
          <p:nvPr/>
        </p:nvSpPr>
        <p:spPr>
          <a:xfrm>
            <a:off x="5349746" y="4212473"/>
            <a:ext cx="2802890" cy="57975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1200"/>
              </a:spcAft>
            </a:pPr>
            <a:endParaRPr lang="vi-VN" altLang="en-AU" sz="1800" i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Cordia New" panose="020B0304020202020204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7DC7F9-93B6-2EBF-6477-33C5E5D977AB}"/>
              </a:ext>
            </a:extLst>
          </p:cNvPr>
          <p:cNvSpPr txBox="1"/>
          <p:nvPr/>
        </p:nvSpPr>
        <p:spPr>
          <a:xfrm>
            <a:off x="3391187" y="605743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GB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Giao </a:t>
            </a:r>
            <a:r>
              <a:rPr lang="en-GB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GB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Phó</a:t>
            </a:r>
            <a:r>
              <a:rPr lang="en-GB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GB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GB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GB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GB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GB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game </a:t>
            </a:r>
            <a:endParaRPr lang="en-GB" i="1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FC7891-11BA-AF02-642F-40C3012BDD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0733" y="1634282"/>
            <a:ext cx="4201111" cy="3400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4036FC-8E34-7116-5BF8-4FA5A11FAF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6301" y="1444499"/>
            <a:ext cx="5896734" cy="362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013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1B704-90B3-339F-6761-0E632467F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5B8AF0E-EE0F-866C-6016-F96DD1875091}"/>
              </a:ext>
            </a:extLst>
          </p:cNvPr>
          <p:cNvSpPr txBox="1"/>
          <p:nvPr/>
        </p:nvSpPr>
        <p:spPr>
          <a:xfrm>
            <a:off x="874713" y="3398461"/>
            <a:ext cx="6940108" cy="150810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sz="4600" b="1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GB" sz="4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4600" b="1" dirty="0" err="1">
                <a:latin typeface="Cambria" panose="02040503050406030204" pitchFamily="18" charset="0"/>
                <a:ea typeface="Cambria" panose="02040503050406030204" pitchFamily="18" charset="0"/>
              </a:rPr>
              <a:t>nghiệm</a:t>
            </a:r>
            <a:r>
              <a:rPr lang="en-GB" sz="4600" b="1" dirty="0">
                <a:latin typeface="Cambria" panose="02040503050406030204" pitchFamily="18" charset="0"/>
                <a:ea typeface="Cambria" panose="02040503050406030204" pitchFamily="18" charset="0"/>
              </a:rPr>
              <a:t> &amp; </a:t>
            </a:r>
            <a:r>
              <a:rPr lang="en-GB" sz="4600" b="1" dirty="0" err="1">
                <a:latin typeface="Cambria" panose="02040503050406030204" pitchFamily="18" charset="0"/>
                <a:ea typeface="Cambria" panose="02040503050406030204" pitchFamily="18" charset="0"/>
              </a:rPr>
              <a:t>Đánh</a:t>
            </a:r>
            <a:r>
              <a:rPr lang="en-GB" sz="4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4600" b="1" dirty="0" err="1">
                <a:latin typeface="Cambria" panose="02040503050406030204" pitchFamily="18" charset="0"/>
                <a:ea typeface="Cambria" panose="02040503050406030204" pitchFamily="18" charset="0"/>
              </a:rPr>
              <a:t>giá</a:t>
            </a:r>
            <a:r>
              <a:rPr lang="en-GB" sz="4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4600" b="1" dirty="0" err="1">
                <a:latin typeface="Cambria" panose="02040503050406030204" pitchFamily="18" charset="0"/>
                <a:ea typeface="Cambria" panose="02040503050406030204" pitchFamily="18" charset="0"/>
              </a:rPr>
              <a:t>hiệu</a:t>
            </a:r>
            <a:r>
              <a:rPr lang="en-GB" sz="4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4600" b="1" dirty="0" err="1">
                <a:latin typeface="Cambria" panose="02040503050406030204" pitchFamily="18" charset="0"/>
                <a:ea typeface="Cambria" panose="02040503050406030204" pitchFamily="18" charset="0"/>
              </a:rPr>
              <a:t>năng</a:t>
            </a:r>
            <a:endParaRPr lang="en-GB" sz="4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488E41B-FD4E-9161-D21B-CB1A5E14D8C1}"/>
              </a:ext>
            </a:extLst>
          </p:cNvPr>
          <p:cNvSpPr txBox="1"/>
          <p:nvPr/>
        </p:nvSpPr>
        <p:spPr>
          <a:xfrm>
            <a:off x="874713" y="2482009"/>
            <a:ext cx="3115853" cy="76944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400" b="1" dirty="0">
                <a:solidFill>
                  <a:schemeClr val="accent1"/>
                </a:solidFill>
                <a:latin typeface="Calibri" panose="020F0502020204030204" pitchFamily="34" charset="0"/>
                <a:ea typeface="时尚中黑简体" panose="01010104010101010101" pitchFamily="2" charset="-122"/>
              </a:rPr>
              <a:t>CHƯƠNG 04</a:t>
            </a:r>
            <a:endParaRPr lang="zh-CN" altLang="en-US" sz="4400" b="1" dirty="0">
              <a:solidFill>
                <a:schemeClr val="accent1"/>
              </a:solidFill>
              <a:latin typeface="Calibri" panose="020F0502020204030204" pitchFamily="34" charset="0"/>
              <a:ea typeface="时尚中黑简体" panose="01010104010101010101" pitchFamily="2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036A0F5-1E46-96BF-FE3E-921BE93E0E37}"/>
              </a:ext>
            </a:extLst>
          </p:cNvPr>
          <p:cNvCxnSpPr/>
          <p:nvPr/>
        </p:nvCxnSpPr>
        <p:spPr>
          <a:xfrm>
            <a:off x="1014413" y="3294178"/>
            <a:ext cx="709987" cy="0"/>
          </a:xfrm>
          <a:prstGeom prst="line">
            <a:avLst/>
          </a:prstGeom>
          <a:ln w="28575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138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/>
          <p:cNvSpPr txBox="1"/>
          <p:nvPr/>
        </p:nvSpPr>
        <p:spPr>
          <a:xfrm>
            <a:off x="1347346" y="227080"/>
            <a:ext cx="4822539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Đánh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giá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GB" sz="3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3600" b="1" dirty="0" err="1">
                <a:latin typeface="Cambria" panose="02040503050406030204" pitchFamily="18" charset="0"/>
                <a:ea typeface="Cambria" panose="02040503050406030204" pitchFamily="18" charset="0"/>
              </a:rPr>
              <a:t>nghiệm</a:t>
            </a:r>
            <a:endParaRPr lang="en-GB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vi-VN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753598" y="3986312"/>
            <a:ext cx="68480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AU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59F53-D25F-8774-BD84-209FA9FA1853}"/>
              </a:ext>
            </a:extLst>
          </p:cNvPr>
          <p:cNvSpPr txBox="1"/>
          <p:nvPr/>
        </p:nvSpPr>
        <p:spPr>
          <a:xfrm>
            <a:off x="1347347" y="1555423"/>
            <a:ext cx="9352076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Thử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nghiệm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độ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trễ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mạng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Latency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Kiểm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thử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kết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nối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client-server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trong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điều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kiện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mạng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tế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với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RTT dao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từ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40ms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đến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90ms.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Cơ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chế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dự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đoán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di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Client-prediction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hoạt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động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ổn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triệt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tiêu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hoàn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toàn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cảm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giác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khựng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trễ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di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chuyển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Thử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nghiệm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tải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FPS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800100" lvl="1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Client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chạy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ổn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định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ở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mức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60 FPS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trên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cấu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hình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máy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tầm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trung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800100" lvl="1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Dedicated Server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tối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ưu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hóa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tốt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tài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nguyên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CPU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nhờ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thuật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toán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FSM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quái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vật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đơn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giản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kiến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trúc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Zone-based Server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phân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khu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tải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dữ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liệu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 marL="342900" indent="-34290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Đánh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giá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bảo</a:t>
            </a:r>
            <a:r>
              <a:rPr lang="en-GB" sz="20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mật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Thực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nghiệm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sử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dụng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các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cụ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thay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đổi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bộ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nhớ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tại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Client Cheat Engine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để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hack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vàng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HP; Dedicated Server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phát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hiện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và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từ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chối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ghi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nhận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chứng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minh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mô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hình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Server-Authoritative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chống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gian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lận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thành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000" i="0" dirty="0" err="1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công</a:t>
            </a:r>
            <a:r>
              <a:rPr lang="en-GB" sz="2000" i="0" dirty="0">
                <a:solidFill>
                  <a:srgbClr val="333333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30131-6B04-243A-1D7B-3E05C399D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8">
            <a:extLst>
              <a:ext uri="{FF2B5EF4-FFF2-40B4-BE49-F238E27FC236}">
                <a16:creationId xmlns:a16="http://schemas.microsoft.com/office/drawing/2014/main" id="{D9219BFA-CAF1-67A0-0968-CE882620EC14}"/>
              </a:ext>
            </a:extLst>
          </p:cNvPr>
          <p:cNvSpPr txBox="1"/>
          <p:nvPr/>
        </p:nvSpPr>
        <p:spPr>
          <a:xfrm>
            <a:off x="1347346" y="227080"/>
            <a:ext cx="5217454" cy="646331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3600" b="1" dirty="0">
                <a:latin typeface="Calibri" panose="020F0502020204030204" pitchFamily="34" charset="0"/>
              </a:rPr>
              <a:t>ĐỊNH </a:t>
            </a:r>
            <a:r>
              <a:rPr lang="vi-VN" altLang="zh-CN" sz="3600" b="1" dirty="0">
                <a:latin typeface="Calibri" panose="020F0502020204030204" pitchFamily="34" charset="0"/>
              </a:rPr>
              <a:t>HƯỚNG PHÁT TRIỂN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DA09400E-A802-D9C6-D3AE-E48208996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vi-VN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A7A31CE-74BD-9EE6-9D02-A56B0D244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598" y="3986312"/>
            <a:ext cx="68480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AU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Cordia New" panose="020B0304020202020204" pitchFamily="34" charset="-34"/>
              </a:rPr>
              <a:t> 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AutoShape 2" descr=", do AI tạo">
            <a:extLst>
              <a:ext uri="{FF2B5EF4-FFF2-40B4-BE49-F238E27FC236}">
                <a16:creationId xmlns:a16="http://schemas.microsoft.com/office/drawing/2014/main" id="{32675A92-3E66-C1C9-2A16-651E1C2163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F1D01E-0EAB-B002-CC6A-2833ECDFED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392073"/>
            <a:ext cx="9753600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6230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文本框 59"/>
          <p:cNvSpPr txBox="1"/>
          <p:nvPr/>
        </p:nvSpPr>
        <p:spPr>
          <a:xfrm>
            <a:off x="731631" y="2149395"/>
            <a:ext cx="2603598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</a:rPr>
              <a:t>CẢM ƠN.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ISPRING_FIRST_PUBLISH" val="1"/>
</p:tagLst>
</file>

<file path=ppt/theme/theme1.xml><?xml version="1.0" encoding="utf-8"?>
<a:theme xmlns:a="http://schemas.openxmlformats.org/drawingml/2006/main" name="Master">
  <a:themeElements>
    <a:clrScheme name="自定义 19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F213B"/>
      </a:accent1>
      <a:accent2>
        <a:srgbClr val="595959"/>
      </a:accent2>
      <a:accent3>
        <a:srgbClr val="DF213B"/>
      </a:accent3>
      <a:accent4>
        <a:srgbClr val="595959"/>
      </a:accent4>
      <a:accent5>
        <a:srgbClr val="DF213B"/>
      </a:accent5>
      <a:accent6>
        <a:srgbClr val="595959"/>
      </a:accent6>
      <a:hlink>
        <a:srgbClr val="DF213B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2313</TotalTime>
  <Words>1818</Words>
  <Application>Microsoft Office PowerPoint</Application>
  <PresentationFormat>Widescreen</PresentationFormat>
  <Paragraphs>192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等线</vt:lpstr>
      <vt:lpstr>Arial</vt:lpstr>
      <vt:lpstr>Calibri</vt:lpstr>
      <vt:lpstr>Cambria</vt:lpstr>
      <vt:lpstr>Helvetica Neue</vt:lpstr>
      <vt:lpstr>Muli</vt:lpstr>
      <vt:lpstr>Times New Roman</vt:lpstr>
      <vt:lpstr>Wingdings</vt:lpstr>
      <vt:lpstr>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逆流的小鱼</dc:creator>
  <cp:lastModifiedBy>thủy trần</cp:lastModifiedBy>
  <cp:revision>536</cp:revision>
  <dcterms:created xsi:type="dcterms:W3CDTF">2017-09-22T08:16:00Z</dcterms:created>
  <dcterms:modified xsi:type="dcterms:W3CDTF">2026-06-10T10:24:42Z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0EC7B851028843249376C815BE06E479_12</vt:lpwstr>
  </property>
  <property fmtid="{D5CDD505-2E9C-101B-9397-08002B2CF9AE}" pid="3" name="KSOProductBuildVer">
    <vt:lpwstr>1033-12.2.0.21179</vt:lpwstr>
  </property>
</Properties>
</file>